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82" r:id="rId5"/>
    <p:sldId id="276" r:id="rId6"/>
    <p:sldId id="278" r:id="rId7"/>
    <p:sldId id="279" r:id="rId8"/>
    <p:sldId id="280" r:id="rId9"/>
    <p:sldId id="283" r:id="rId10"/>
    <p:sldId id="28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84" r:id="rId24"/>
    <p:sldId id="274" r:id="rId25"/>
    <p:sldId id="275" r:id="rId26"/>
    <p:sldId id="260" r:id="rId27"/>
    <p:sldId id="261" r:id="rId28"/>
  </p:sldIdLst>
  <p:sldSz cx="18288000" cy="10287000"/>
  <p:notesSz cx="6858000" cy="9144000"/>
  <p:embeddedFontLst>
    <p:embeddedFont>
      <p:font typeface="Open Sans" pitchFamily="2" charset="0"/>
      <p:regular r:id="rId30"/>
      <p:bold r:id="rId31"/>
      <p:italic r:id="rId32"/>
      <p:boldItalic r:id="rId33"/>
    </p:embeddedFont>
    <p:embeddedFont>
      <p:font typeface="Play" panose="020B0604020202020204" charset="0"/>
      <p:regular r:id="rId34"/>
      <p:bold r:id="rId35"/>
    </p:embeddedFont>
    <p:embeddedFont>
      <p:font typeface="Poppins" panose="00000500000000000000" pitchFamily="2" charset="0"/>
      <p:regular r:id="rId36"/>
      <p:bold r:id="rId37"/>
    </p:embeddedFont>
    <p:embeddedFont>
      <p:font typeface="Segoe UI Light" panose="020B0502040204020203" pitchFamily="34" charset="0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41" roundtripDataSignature="AMtx7mj8WyXUCK66QO/yXTnA5QwWW1Wd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A9E775-509F-42BE-83E6-2F45A2865BB2}" v="24" dt="2026-10-23T10:06:47.683"/>
    <p1510:client id="{6F8C1899-E1F3-4359-B168-FB4818066258}" v="10" dt="2026-10-23T12:44:10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380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Porras Rodríguez" userId="ccee4686-7076-4018-baa0-0748598ae102" providerId="ADAL" clId="{F17C0964-2942-469D-A357-BCBC4A17B240}"/>
    <pc:docChg chg="undo custSel addSld delSld modSld">
      <pc:chgData name="Santiago Porras Rodríguez" userId="ccee4686-7076-4018-baa0-0748598ae102" providerId="ADAL" clId="{F17C0964-2942-469D-A357-BCBC4A17B240}" dt="2026-10-23T12:44:10.598" v="21" actId="729"/>
      <pc:docMkLst>
        <pc:docMk/>
      </pc:docMkLst>
      <pc:sldChg chg="addSp modSp mod">
        <pc:chgData name="Santiago Porras Rodríguez" userId="ccee4686-7076-4018-baa0-0748598ae102" providerId="ADAL" clId="{F17C0964-2942-469D-A357-BCBC4A17B240}" dt="2026-10-23T07:48:00.041" v="8" actId="1076"/>
        <pc:sldMkLst>
          <pc:docMk/>
          <pc:sldMk cId="0" sldId="261"/>
        </pc:sldMkLst>
        <pc:picChg chg="add mod">
          <ac:chgData name="Santiago Porras Rodríguez" userId="ccee4686-7076-4018-baa0-0748598ae102" providerId="ADAL" clId="{F17C0964-2942-469D-A357-BCBC4A17B240}" dt="2026-10-23T07:48:00.041" v="8" actId="1076"/>
          <ac:picMkLst>
            <pc:docMk/>
            <pc:sldMk cId="0" sldId="261"/>
            <ac:picMk id="3" creationId="{C77C2A1A-2A2C-6F6A-6BBD-908453AC6867}"/>
          </ac:picMkLst>
        </pc:picChg>
      </pc:sldChg>
      <pc:sldChg chg="mod modShow">
        <pc:chgData name="Santiago Porras Rodríguez" userId="ccee4686-7076-4018-baa0-0748598ae102" providerId="ADAL" clId="{F17C0964-2942-469D-A357-BCBC4A17B240}" dt="2026-10-23T12:44:10.598" v="21" actId="729"/>
        <pc:sldMkLst>
          <pc:docMk/>
          <pc:sldMk cId="0" sldId="262"/>
        </pc:sldMkLst>
      </pc:sldChg>
      <pc:sldChg chg="del">
        <pc:chgData name="Santiago Porras Rodríguez" userId="ccee4686-7076-4018-baa0-0748598ae102" providerId="ADAL" clId="{F17C0964-2942-469D-A357-BCBC4A17B240}" dt="2026-10-23T12:41:52.158" v="20" actId="47"/>
        <pc:sldMkLst>
          <pc:docMk/>
          <pc:sldMk cId="0" sldId="277"/>
        </pc:sldMkLst>
      </pc:sldChg>
      <pc:sldChg chg="addSp delSp modSp new mod">
        <pc:chgData name="Santiago Porras Rodríguez" userId="ccee4686-7076-4018-baa0-0748598ae102" providerId="ADAL" clId="{F17C0964-2942-469D-A357-BCBC4A17B240}" dt="2026-10-23T08:40:59.164" v="19"/>
        <pc:sldMkLst>
          <pc:docMk/>
          <pc:sldMk cId="4277459000" sldId="283"/>
        </pc:sldMkLst>
        <pc:spChg chg="add del">
          <ac:chgData name="Santiago Porras Rodríguez" userId="ccee4686-7076-4018-baa0-0748598ae102" providerId="ADAL" clId="{F17C0964-2942-469D-A357-BCBC4A17B240}" dt="2026-10-23T08:40:38.642" v="14" actId="21"/>
          <ac:spMkLst>
            <pc:docMk/>
            <pc:sldMk cId="4277459000" sldId="283"/>
            <ac:spMk id="5" creationId="{7F6A0223-DFFC-9B3C-1A43-D694A56E3A19}"/>
          </ac:spMkLst>
        </pc:spChg>
        <pc:spChg chg="add del">
          <ac:chgData name="Santiago Porras Rodríguez" userId="ccee4686-7076-4018-baa0-0748598ae102" providerId="ADAL" clId="{F17C0964-2942-469D-A357-BCBC4A17B240}" dt="2026-10-23T08:40:45.491" v="17" actId="22"/>
          <ac:spMkLst>
            <pc:docMk/>
            <pc:sldMk cId="4277459000" sldId="283"/>
            <ac:spMk id="7" creationId="{7168DA3C-DF5E-6A32-1C2D-7E892FC82CF1}"/>
          </ac:spMkLst>
        </pc:spChg>
        <pc:picChg chg="add del mod">
          <ac:chgData name="Santiago Porras Rodríguez" userId="ccee4686-7076-4018-baa0-0748598ae102" providerId="ADAL" clId="{F17C0964-2942-469D-A357-BCBC4A17B240}" dt="2026-10-23T08:40:40.266" v="15" actId="478"/>
          <ac:picMkLst>
            <pc:docMk/>
            <pc:sldMk cId="4277459000" sldId="283"/>
            <ac:picMk id="3" creationId="{6AF5AE55-6748-5566-1563-A0B8EEF925B8}"/>
          </ac:picMkLst>
        </pc:picChg>
        <pc:picChg chg="add mod">
          <ac:chgData name="Santiago Porras Rodríguez" userId="ccee4686-7076-4018-baa0-0748598ae102" providerId="ADAL" clId="{F17C0964-2942-469D-A357-BCBC4A17B240}" dt="2026-10-23T08:40:59.164" v="19"/>
          <ac:picMkLst>
            <pc:docMk/>
            <pc:sldMk cId="4277459000" sldId="283"/>
            <ac:picMk id="9" creationId="{05BF4C8A-6C8D-9194-BC5D-8D8361196AA2}"/>
          </ac:picMkLst>
        </pc:picChg>
      </pc:sldChg>
    </pc:docChg>
  </pc:docChgLst>
  <pc:docChgLst>
    <pc:chgData name="Sergio Parra Guerra" userId="2e76f66f-c483-4588-8490-fd6b4358ea00" providerId="ADAL" clId="{056B6705-94EB-4F23-AA78-B957ABCAC9F4}"/>
    <pc:docChg chg="addSld modSld sldOrd">
      <pc:chgData name="Sergio Parra Guerra" userId="2e76f66f-c483-4588-8490-fd6b4358ea00" providerId="ADAL" clId="{056B6705-94EB-4F23-AA78-B957ABCAC9F4}" dt="2026-10-23T10:06:47.683" v="25" actId="20577"/>
      <pc:docMkLst>
        <pc:docMk/>
      </pc:docMkLst>
      <pc:sldChg chg="mod modShow">
        <pc:chgData name="Sergio Parra Guerra" userId="2e76f66f-c483-4588-8490-fd6b4358ea00" providerId="ADAL" clId="{056B6705-94EB-4F23-AA78-B957ABCAC9F4}" dt="2026-10-23T08:41:31.661" v="3" actId="34476"/>
        <pc:sldMkLst>
          <pc:docMk/>
          <pc:sldMk cId="0" sldId="262"/>
        </pc:sldMkLst>
      </pc:sldChg>
      <pc:sldChg chg="addSp modSp mod">
        <pc:chgData name="Sergio Parra Guerra" userId="2e76f66f-c483-4588-8490-fd6b4358ea00" providerId="ADAL" clId="{056B6705-94EB-4F23-AA78-B957ABCAC9F4}" dt="2026-10-23T08:45:25.695" v="5" actId="1076"/>
        <pc:sldMkLst>
          <pc:docMk/>
          <pc:sldMk cId="0" sldId="265"/>
        </pc:sldMkLst>
        <pc:picChg chg="add mod">
          <ac:chgData name="Sergio Parra Guerra" userId="2e76f66f-c483-4588-8490-fd6b4358ea00" providerId="ADAL" clId="{056B6705-94EB-4F23-AA78-B957ABCAC9F4}" dt="2026-10-23T08:45:25.695" v="5" actId="1076"/>
          <ac:picMkLst>
            <pc:docMk/>
            <pc:sldMk cId="0" sldId="265"/>
            <ac:picMk id="4" creationId="{7C8BE728-9408-498D-71B1-CFBAB48B9B14}"/>
          </ac:picMkLst>
        </pc:picChg>
      </pc:sldChg>
      <pc:sldChg chg="ord">
        <pc:chgData name="Sergio Parra Guerra" userId="2e76f66f-c483-4588-8490-fd6b4358ea00" providerId="ADAL" clId="{056B6705-94EB-4F23-AA78-B957ABCAC9F4}" dt="2026-10-23T08:48:25.169" v="7"/>
        <pc:sldMkLst>
          <pc:docMk/>
          <pc:sldMk cId="4277459000" sldId="283"/>
        </pc:sldMkLst>
      </pc:sldChg>
      <pc:sldChg chg="modSp add mod">
        <pc:chgData name="Sergio Parra Guerra" userId="2e76f66f-c483-4588-8490-fd6b4358ea00" providerId="ADAL" clId="{056B6705-94EB-4F23-AA78-B957ABCAC9F4}" dt="2026-10-23T10:06:47.683" v="25" actId="20577"/>
        <pc:sldMkLst>
          <pc:docMk/>
          <pc:sldMk cId="1236508104" sldId="284"/>
        </pc:sldMkLst>
        <pc:spChg chg="mod">
          <ac:chgData name="Sergio Parra Guerra" userId="2e76f66f-c483-4588-8490-fd6b4358ea00" providerId="ADAL" clId="{056B6705-94EB-4F23-AA78-B957ABCAC9F4}" dt="2026-10-23T10:06:20.339" v="21" actId="20577"/>
          <ac:spMkLst>
            <pc:docMk/>
            <pc:sldMk cId="1236508104" sldId="284"/>
            <ac:spMk id="5" creationId="{493C66F1-20FF-221B-2DA0-3FBB17CF5FA5}"/>
          </ac:spMkLst>
        </pc:spChg>
        <pc:spChg chg="mod">
          <ac:chgData name="Sergio Parra Guerra" userId="2e76f66f-c483-4588-8490-fd6b4358ea00" providerId="ADAL" clId="{056B6705-94EB-4F23-AA78-B957ABCAC9F4}" dt="2026-10-23T10:06:47.683" v="25" actId="20577"/>
          <ac:spMkLst>
            <pc:docMk/>
            <pc:sldMk cId="1236508104" sldId="284"/>
            <ac:spMk id="6" creationId="{A36EAD3F-357B-7946-92FA-43B12DF2EB8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4" name="Google Shape;12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Presentad la tensión central: la IA aporta lenguaje y creatividad, mientras el motor conserva la autoridad sobre reglas, estado, puzles y persistencia.
[Sources]
- presentation-guide.md; 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EC065-DA3E-C733-2C13-6D77AA2EA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24C55-ED97-CC7B-9C11-7B60577B7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5D7DA-2513-071B-A586-294F9E539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6B129D-4BAD-CBDE-481C-3E3E5720AB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669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Notas conservadas conceptualmente de la versión anterior.
[Sources]
- architecture.md; runtime-flows.md; presentation-guide.md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 UI no escribe directamente en PostgreSQL y los agentes no mutan el mundo.
[Sources]
- 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Los contratos permiten sustituir infraestructura sin reescribir el dominio.
[Sources]
- 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Separar semantic parsing de rule evaluation.
[Sources]
- runtime-flows.md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orden hace que la narrativa describa hechos confirmados.
[Sources]
- runtime-flows.md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jugador recibe el resultado antes que el enriquecimiento visual.
[Sources]
- runtime-flows.md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Aspire se plantea como experiencia de desarrollo y orquestación local.
[Sources]
- 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worker visual se puede extraer porque tiene un patrón de carga independiente.
[Sources]
- 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Separar métricas generativas de métricas de negocio y consistencia.
[Sources]
- runtime-flows.md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F647E-105A-DC38-BEAB-6E8C25523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F08614-1854-E6DB-9BFF-268D8637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B2F8C-D7B9-FEEF-8499-7AFA2C7FA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Presentad la tensión central: la IA aporta lenguaje y creatividad, mientras el motor conserva la autoridad sobre reglas, estado, puzles y persistencia.
[Sources]
- presentation-guide.md; architecture.md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959E8-633B-CC1C-3F6F-8925BC9007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7541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Reserva para preguntas sobre generación y publicación de aventuras.
[Sources]
- architecture.md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Reserva para profundizar en pruebas y fallos inyectados.
[Sources]
- presentation-guide.md; runtime-flows.md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h190644741bd3d99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6" name="Google Shape;146;h190644741bd3d99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1pPr>
            <a:lvl2pPr lv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lvl="3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4pPr>
            <a:lvl5pPr lvl="4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0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0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9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1"/>
          <p:cNvSpPr txBox="1"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36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3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27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2"/>
          </p:nvPr>
        </p:nvSpPr>
        <p:spPr>
          <a:xfrm>
            <a:off x="9258300" y="2738438"/>
            <a:ext cx="7772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1259683" y="3757613"/>
            <a:ext cx="7736681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3"/>
          </p:nvPr>
        </p:nvSpPr>
        <p:spPr>
          <a:xfrm>
            <a:off x="9258300" y="2521745"/>
            <a:ext cx="7774782" cy="12358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body" idx="4"/>
          </p:nvPr>
        </p:nvSpPr>
        <p:spPr>
          <a:xfrm>
            <a:off x="9258300" y="3757613"/>
            <a:ext cx="7774782" cy="55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334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Char char="•"/>
              <a:defRPr sz="4800"/>
            </a:lvl1pPr>
            <a:lvl2pPr marL="914400" lvl="1" indent="-4953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4200"/>
              <a:buChar char="•"/>
              <a:defRPr sz="4200"/>
            </a:lvl2pPr>
            <a:lvl3pPr marL="1371600" lvl="2" indent="-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  <a:defRPr sz="3600"/>
            </a:lvl3pPr>
            <a:lvl4pPr marL="1828800" lvl="3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4pPr>
            <a:lvl5pPr marL="2286000" lvl="4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5pPr>
            <a:lvl6pPr marL="2743200" lvl="5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6pPr>
            <a:lvl7pPr marL="3200400" lvl="6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7pPr>
            <a:lvl8pPr marL="3657600" lvl="7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8pPr>
            <a:lvl9pPr marL="4114800" lvl="8" indent="-4191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7774782" y="1481138"/>
            <a:ext cx="9258300" cy="7310438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1259683" y="3086100"/>
            <a:ext cx="5898356" cy="57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marL="914400" lvl="1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marL="1371600" lvl="2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marL="1828800" lvl="3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marL="2286000" lvl="4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marL="2743200" lvl="5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marL="3200400" lvl="6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marL="3657600" lvl="7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marL="4114800" lvl="8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5880497" y="-1884758"/>
            <a:ext cx="6527007" cy="157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10700147" y="2934892"/>
            <a:ext cx="8717757" cy="394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2699146" y="-894158"/>
            <a:ext cx="8717757" cy="1160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297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adiaz@encamina.com" TargetMode="External"/><Relationship Id="rId13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2667616" y="4380161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" name="Google Shape;88;p1"/>
          <p:cNvCxnSpPr/>
          <p:nvPr/>
        </p:nvCxnSpPr>
        <p:spPr>
          <a:xfrm>
            <a:off x="3619363" y="1033463"/>
            <a:ext cx="11043829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p1"/>
          <p:cNvSpPr/>
          <p:nvPr/>
        </p:nvSpPr>
        <p:spPr>
          <a:xfrm>
            <a:off x="16817117" y="619524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p1"/>
          <p:cNvCxnSpPr/>
          <p:nvPr/>
        </p:nvCxnSpPr>
        <p:spPr>
          <a:xfrm>
            <a:off x="781222" y="9712128"/>
            <a:ext cx="1674682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p1"/>
          <p:cNvSpPr/>
          <p:nvPr/>
        </p:nvSpPr>
        <p:spPr>
          <a:xfrm>
            <a:off x="211465" y="-3096968"/>
            <a:ext cx="9114554" cy="14954258"/>
          </a:xfrm>
          <a:custGeom>
            <a:avLst/>
            <a:gdLst/>
            <a:ahLst/>
            <a:cxnLst/>
            <a:rect l="l" t="t" r="r" b="b"/>
            <a:pathLst>
              <a:path w="3912870" h="6419850" extrusionOk="0">
                <a:moveTo>
                  <a:pt x="2343150" y="797560"/>
                </a:moveTo>
                <a:lnTo>
                  <a:pt x="3912870" y="156210"/>
                </a:lnTo>
                <a:lnTo>
                  <a:pt x="3912870" y="1327150"/>
                </a:lnTo>
                <a:lnTo>
                  <a:pt x="2627630" y="2366010"/>
                </a:lnTo>
                <a:lnTo>
                  <a:pt x="3912870" y="1991360"/>
                </a:lnTo>
                <a:lnTo>
                  <a:pt x="3912870" y="3162300"/>
                </a:lnTo>
                <a:lnTo>
                  <a:pt x="1640840" y="4832350"/>
                </a:lnTo>
                <a:cubicBezTo>
                  <a:pt x="2366010" y="4615180"/>
                  <a:pt x="3065780" y="4183380"/>
                  <a:pt x="3740150" y="3520440"/>
                </a:cubicBezTo>
                <a:lnTo>
                  <a:pt x="3740150" y="4874260"/>
                </a:lnTo>
                <a:cubicBezTo>
                  <a:pt x="2578100" y="5966460"/>
                  <a:pt x="1375410" y="6419850"/>
                  <a:pt x="139700" y="6341110"/>
                </a:cubicBezTo>
                <a:lnTo>
                  <a:pt x="139700" y="4765040"/>
                </a:lnTo>
                <a:lnTo>
                  <a:pt x="1276350" y="3929380"/>
                </a:lnTo>
                <a:lnTo>
                  <a:pt x="363220" y="4194810"/>
                </a:lnTo>
                <a:lnTo>
                  <a:pt x="363220" y="3023870"/>
                </a:lnTo>
                <a:lnTo>
                  <a:pt x="980440" y="2524760"/>
                </a:lnTo>
                <a:lnTo>
                  <a:pt x="34290" y="2912110"/>
                </a:lnTo>
                <a:lnTo>
                  <a:pt x="34290" y="1741170"/>
                </a:lnTo>
                <a:lnTo>
                  <a:pt x="595630" y="1356360"/>
                </a:lnTo>
                <a:cubicBezTo>
                  <a:pt x="393700" y="1343660"/>
                  <a:pt x="194310" y="1309370"/>
                  <a:pt x="0" y="1256030"/>
                </a:cubicBezTo>
                <a:lnTo>
                  <a:pt x="0" y="414020"/>
                </a:lnTo>
                <a:cubicBezTo>
                  <a:pt x="825500" y="652780"/>
                  <a:pt x="1609090" y="534670"/>
                  <a:pt x="2343150" y="0"/>
                </a:cubicBezTo>
                <a:lnTo>
                  <a:pt x="2343150" y="79756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31140" r="-311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4981708" y="863322"/>
            <a:ext cx="1715604" cy="2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3"/>
              <a:buFont typeface="Arial"/>
              <a:buNone/>
            </a:pPr>
            <a:r>
              <a:rPr lang="en-US" sz="1643" b="1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891654" y="1195787"/>
            <a:ext cx="1715604" cy="28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US" sz="1343" b="0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BF95F7A7-3F81-693B-847E-493BEE99366B}"/>
              </a:ext>
            </a:extLst>
          </p:cNvPr>
          <p:cNvSpPr/>
          <p:nvPr/>
        </p:nvSpPr>
        <p:spPr>
          <a:xfrm>
            <a:off x="8796308" y="2652314"/>
            <a:ext cx="7635240" cy="5532120"/>
          </a:xfrm>
          <a:prstGeom prst="rect">
            <a:avLst/>
          </a:prstGeom>
          <a:solidFill>
            <a:srgbClr val="17072E">
              <a:alpha val="86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F990062-702C-C9A7-F0CB-2F297F4A6459}"/>
              </a:ext>
            </a:extLst>
          </p:cNvPr>
          <p:cNvSpPr/>
          <p:nvPr/>
        </p:nvSpPr>
        <p:spPr>
          <a:xfrm>
            <a:off x="9088916" y="3063794"/>
            <a:ext cx="6903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8A3D"/>
                </a:solidFill>
              </a:rPr>
              <a:t>AI Spectrum Adventure:</a:t>
            </a:r>
            <a:endParaRPr lang="en-US" sz="280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78EF2116-4000-8C2C-0511-2A4084B3A9E6}"/>
              </a:ext>
            </a:extLst>
          </p:cNvPr>
          <p:cNvSpPr/>
          <p:nvPr/>
        </p:nvSpPr>
        <p:spPr>
          <a:xfrm>
            <a:off x="9088916" y="3722162"/>
            <a:ext cx="6903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>
                <a:solidFill>
                  <a:srgbClr val="FFFFFF"/>
                </a:solidFill>
              </a:rPr>
              <a:t>Cuando la IA </a:t>
            </a:r>
            <a:r>
              <a:rPr lang="en-US" sz="3100" b="1" err="1">
                <a:solidFill>
                  <a:srgbClr val="FFFFFF"/>
                </a:solidFill>
              </a:rPr>
              <a:t>imagina</a:t>
            </a:r>
            <a:r>
              <a:rPr lang="en-US" sz="3100" b="1">
                <a:solidFill>
                  <a:srgbClr val="FFFFFF"/>
                </a:solidFill>
              </a:rPr>
              <a:t>, </a:t>
            </a:r>
            <a:r>
              <a:rPr lang="en-US" sz="3100" b="1" err="1">
                <a:solidFill>
                  <a:srgbClr val="FFFFFF"/>
                </a:solidFill>
              </a:rPr>
              <a:t>pero</a:t>
            </a:r>
            <a:r>
              <a:rPr lang="en-US" sz="3100" b="1">
                <a:solidFill>
                  <a:srgbClr val="FFFFFF"/>
                </a:solidFill>
              </a:rPr>
              <a:t> el motor decide la </a:t>
            </a:r>
            <a:r>
              <a:rPr lang="en-US" sz="3100" b="1" err="1">
                <a:solidFill>
                  <a:srgbClr val="FFFFFF"/>
                </a:solidFill>
              </a:rPr>
              <a:t>realidad</a:t>
            </a:r>
            <a:endParaRPr lang="en-US" sz="3100" err="1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096228F-28D1-2684-4F68-9F050F7846A0}"/>
              </a:ext>
            </a:extLst>
          </p:cNvPr>
          <p:cNvSpPr/>
          <p:nvPr/>
        </p:nvSpPr>
        <p:spPr>
          <a:xfrm>
            <a:off x="9088916" y="5459522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3EFFF"/>
                </a:solidFill>
              </a:rPr>
              <a:t>Arquitectura de una aventura conversacional con IA, reglas deterministas y un mundo coherente</a:t>
            </a:r>
            <a:endParaRPr lang="en-US" sz="180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790B8B7-E025-C349-E940-10705042C99A}"/>
              </a:ext>
            </a:extLst>
          </p:cNvPr>
          <p:cNvSpPr/>
          <p:nvPr/>
        </p:nvSpPr>
        <p:spPr>
          <a:xfrm>
            <a:off x="9088916" y="713287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</a:rPr>
              <a:t>Santiago Porras Rodríguez  ·  Sergio Parra Guerra</a:t>
            </a:r>
            <a:endParaRPr lang="en-US" sz="13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1F3C2373-6DED-417A-A604-FF2D08BA3884}"/>
              </a:ext>
            </a:extLst>
          </p:cNvPr>
          <p:cNvSpPr/>
          <p:nvPr/>
        </p:nvSpPr>
        <p:spPr>
          <a:xfrm>
            <a:off x="9088916" y="748949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8A3D"/>
                </a:solidFill>
              </a:rPr>
              <a:t>Arquitectos de Soluciones · ENCAMINA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 rot="-9507860">
            <a:off x="8420533" y="-4243551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-3925495" y="5622260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2"/>
          <p:cNvCxnSpPr/>
          <p:nvPr/>
        </p:nvCxnSpPr>
        <p:spPr>
          <a:xfrm>
            <a:off x="700612" y="1472360"/>
            <a:ext cx="12385528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3" name="Google Shape;103;p2"/>
          <p:cNvGrpSpPr/>
          <p:nvPr/>
        </p:nvGrpSpPr>
        <p:grpSpPr>
          <a:xfrm>
            <a:off x="12986370" y="762000"/>
            <a:ext cx="4601018" cy="1420720"/>
            <a:chOff x="0" y="0"/>
            <a:chExt cx="6134691" cy="1894293"/>
          </a:xfrm>
        </p:grpSpPr>
        <p:sp>
          <p:nvSpPr>
            <p:cNvPr id="104" name="Google Shape;104;p2"/>
            <p:cNvSpPr/>
            <p:nvPr/>
          </p:nvSpPr>
          <p:spPr>
            <a:xfrm>
              <a:off x="4489064" y="0"/>
              <a:ext cx="1645627" cy="1894293"/>
            </a:xfrm>
            <a:custGeom>
              <a:avLst/>
              <a:gdLst/>
              <a:ahLst/>
              <a:cxnLst/>
              <a:rect l="l" t="t" r="r" b="b"/>
              <a:pathLst>
                <a:path w="1645627" h="1894293" extrusionOk="0">
                  <a:moveTo>
                    <a:pt x="0" y="0"/>
                  </a:moveTo>
                  <a:lnTo>
                    <a:pt x="1645627" y="0"/>
                  </a:lnTo>
                  <a:lnTo>
                    <a:pt x="1645627" y="1894293"/>
                  </a:lnTo>
                  <a:lnTo>
                    <a:pt x="0" y="18942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720" r="-7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240525" y="588852"/>
              <a:ext cx="3971218" cy="652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3"/>
                <a:buFont typeface="Arial"/>
                <a:buNone/>
              </a:pPr>
              <a:r>
                <a:rPr lang="en-US" sz="2853" b="1" i="0" u="none" strike="noStrike" cap="none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&lt;NetCoreConf/&gt;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1364955"/>
              <a:ext cx="3971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3"/>
                <a:buFont typeface="Arial"/>
                <a:buNone/>
              </a:pPr>
              <a:r>
                <a:rPr lang="en-US" sz="2333" b="0" i="0" u="none" strike="noStrike" cap="none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Madrid ‘2</a:t>
              </a:r>
              <a:r>
                <a:rPr lang="en-US" sz="2333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759956" y="817946"/>
            <a:ext cx="2926313" cy="550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lang="en-US" sz="3059" b="0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Sponsors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"/>
          <p:cNvCxnSpPr/>
          <p:nvPr/>
        </p:nvCxnSpPr>
        <p:spPr>
          <a:xfrm rot="10800000" flipH="1">
            <a:off x="700612" y="2913366"/>
            <a:ext cx="16705493" cy="57842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"/>
          <p:cNvSpPr/>
          <p:nvPr/>
        </p:nvSpPr>
        <p:spPr>
          <a:xfrm>
            <a:off x="6330506" y="2793173"/>
            <a:ext cx="5187834" cy="2511131"/>
          </a:xfrm>
          <a:custGeom>
            <a:avLst/>
            <a:gdLst/>
            <a:ahLst/>
            <a:cxnLst/>
            <a:rect l="l" t="t" r="r" b="b"/>
            <a:pathLst>
              <a:path w="2006899" h="971424" extrusionOk="0">
                <a:moveTo>
                  <a:pt x="0" y="0"/>
                </a:moveTo>
                <a:lnTo>
                  <a:pt x="2006899" y="0"/>
                </a:lnTo>
                <a:lnTo>
                  <a:pt x="2006899" y="971425"/>
                </a:lnTo>
                <a:lnTo>
                  <a:pt x="0" y="971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131" t="-34334" r="-9321" b="-3663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714375" y="6351574"/>
            <a:ext cx="5897282" cy="664785"/>
          </a:xfrm>
          <a:custGeom>
            <a:avLst/>
            <a:gdLst/>
            <a:ahLst/>
            <a:cxnLst/>
            <a:rect l="l" t="t" r="r" b="b"/>
            <a:pathLst>
              <a:path w="1983947" h="223645" extrusionOk="0">
                <a:moveTo>
                  <a:pt x="0" y="0"/>
                </a:moveTo>
                <a:lnTo>
                  <a:pt x="1983947" y="0"/>
                </a:lnTo>
                <a:lnTo>
                  <a:pt x="1983947" y="223645"/>
                </a:lnTo>
                <a:lnTo>
                  <a:pt x="0" y="22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1765427" y="8980626"/>
            <a:ext cx="2111533" cy="629121"/>
          </a:xfrm>
          <a:custGeom>
            <a:avLst/>
            <a:gdLst/>
            <a:ahLst/>
            <a:cxnLst/>
            <a:rect l="l" t="t" r="r" b="b"/>
            <a:pathLst>
              <a:path w="1147110" h="341776" extrusionOk="0">
                <a:moveTo>
                  <a:pt x="0" y="0"/>
                </a:moveTo>
                <a:lnTo>
                  <a:pt x="1147110" y="0"/>
                </a:lnTo>
                <a:lnTo>
                  <a:pt x="1147110" y="341776"/>
                </a:lnTo>
                <a:lnTo>
                  <a:pt x="0" y="341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2" name="Google Shape;112;p2"/>
          <p:cNvCxnSpPr/>
          <p:nvPr/>
        </p:nvCxnSpPr>
        <p:spPr>
          <a:xfrm>
            <a:off x="700612" y="8579914"/>
            <a:ext cx="16705493" cy="28596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2"/>
          <p:cNvSpPr/>
          <p:nvPr/>
        </p:nvSpPr>
        <p:spPr>
          <a:xfrm>
            <a:off x="13424262" y="8952019"/>
            <a:ext cx="3590104" cy="657728"/>
          </a:xfrm>
          <a:custGeom>
            <a:avLst/>
            <a:gdLst/>
            <a:ahLst/>
            <a:cxnLst/>
            <a:rect l="l" t="t" r="r" b="b"/>
            <a:pathLst>
              <a:path w="1950357" h="357317" extrusionOk="0">
                <a:moveTo>
                  <a:pt x="0" y="0"/>
                </a:moveTo>
                <a:lnTo>
                  <a:pt x="1950357" y="0"/>
                </a:lnTo>
                <a:lnTo>
                  <a:pt x="1950357" y="357317"/>
                </a:lnTo>
                <a:lnTo>
                  <a:pt x="0" y="357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1413379" y="3456618"/>
            <a:ext cx="7102491" cy="1769705"/>
          </a:xfrm>
          <a:custGeom>
            <a:avLst/>
            <a:gdLst/>
            <a:ahLst/>
            <a:cxnLst/>
            <a:rect l="l" t="t" r="r" b="b"/>
            <a:pathLst>
              <a:path w="2582724" h="643529" extrusionOk="0">
                <a:moveTo>
                  <a:pt x="0" y="0"/>
                </a:moveTo>
                <a:lnTo>
                  <a:pt x="2582724" y="0"/>
                </a:lnTo>
                <a:lnTo>
                  <a:pt x="2582724" y="643529"/>
                </a:lnTo>
                <a:lnTo>
                  <a:pt x="0" y="643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81912" y="3428990"/>
            <a:ext cx="5141475" cy="1466124"/>
          </a:xfrm>
          <a:custGeom>
            <a:avLst/>
            <a:gdLst/>
            <a:ahLst/>
            <a:cxnLst/>
            <a:rect l="l" t="t" r="r" b="b"/>
            <a:pathLst>
              <a:path w="1988965" h="567166" extrusionOk="0">
                <a:moveTo>
                  <a:pt x="0" y="0"/>
                </a:moveTo>
                <a:lnTo>
                  <a:pt x="1988965" y="0"/>
                </a:lnTo>
                <a:lnTo>
                  <a:pt x="1988965" y="567166"/>
                </a:lnTo>
                <a:lnTo>
                  <a:pt x="0" y="56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881895" y="2315439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Platinum sponsors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881895" y="7915477"/>
            <a:ext cx="6449608" cy="686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Gold sponsors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10009993" y="7915477"/>
            <a:ext cx="64497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Colabora</a:t>
            </a:r>
            <a:endParaRPr sz="2200" b="0" i="0" u="none" strike="noStrike" cap="none">
              <a:solidFill>
                <a:srgbClr val="D9D9D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4264196" y="8063619"/>
            <a:ext cx="2463133" cy="2463133"/>
          </a:xfrm>
          <a:custGeom>
            <a:avLst/>
            <a:gdLst/>
            <a:ahLst/>
            <a:cxnLst/>
            <a:rect l="l" t="t" r="r" b="b"/>
            <a:pathLst>
              <a:path w="1404793" h="1404793" extrusionOk="0">
                <a:moveTo>
                  <a:pt x="0" y="0"/>
                </a:moveTo>
                <a:lnTo>
                  <a:pt x="1404793" y="0"/>
                </a:lnTo>
                <a:lnTo>
                  <a:pt x="1404793" y="1404793"/>
                </a:lnTo>
                <a:lnTo>
                  <a:pt x="0" y="140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2" title="v-valley-blanc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67715" y="5830225"/>
            <a:ext cx="6838385" cy="15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" title="scr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727329" y="8802387"/>
            <a:ext cx="3067771" cy="9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 rot="-9507860">
            <a:off x="8901170" y="-4243552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-2667616" y="4380161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>
            <a:off x="781223" y="1033462"/>
            <a:ext cx="13881970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3"/>
          <p:cNvSpPr/>
          <p:nvPr/>
        </p:nvSpPr>
        <p:spPr>
          <a:xfrm>
            <a:off x="16817117" y="619524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3"/>
          <p:cNvCxnSpPr/>
          <p:nvPr/>
        </p:nvCxnSpPr>
        <p:spPr>
          <a:xfrm>
            <a:off x="781222" y="9712128"/>
            <a:ext cx="1674682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3"/>
          <p:cNvSpPr txBox="1"/>
          <p:nvPr/>
        </p:nvSpPr>
        <p:spPr>
          <a:xfrm>
            <a:off x="14981708" y="863322"/>
            <a:ext cx="1715604" cy="2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3"/>
              <a:buFont typeface="Arial"/>
              <a:buNone/>
            </a:pPr>
            <a:r>
              <a:rPr lang="en-US" sz="1643" b="1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14877799" y="1195787"/>
            <a:ext cx="1715700" cy="2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US" sz="1343" b="0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</a:t>
            </a:r>
            <a:r>
              <a:rPr lang="en-US" sz="1343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 descr="A picture containing person&#10;&#10;Description automatically generated">
            <a:extLst>
              <a:ext uri="{FF2B5EF4-FFF2-40B4-BE49-F238E27FC236}">
                <a16:creationId xmlns:a16="http://schemas.microsoft.com/office/drawing/2014/main" id="{1705549A-59E3-6F1D-EDFE-27F5E20873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361" y="1771157"/>
            <a:ext cx="12196836" cy="674468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41A38DF-CDF1-4600-3D9F-D58BBE698C19}"/>
              </a:ext>
            </a:extLst>
          </p:cNvPr>
          <p:cNvGrpSpPr/>
          <p:nvPr/>
        </p:nvGrpSpPr>
        <p:grpSpPr>
          <a:xfrm>
            <a:off x="8900963" y="2231281"/>
            <a:ext cx="5546912" cy="3844055"/>
            <a:chOff x="5888266" y="1095884"/>
            <a:chExt cx="4577795" cy="3116051"/>
          </a:xfrm>
        </p:grpSpPr>
        <p:sp>
          <p:nvSpPr>
            <p:cNvPr id="4" name="Subtitle 1">
              <a:extLst>
                <a:ext uri="{FF2B5EF4-FFF2-40B4-BE49-F238E27FC236}">
                  <a16:creationId xmlns:a16="http://schemas.microsoft.com/office/drawing/2014/main" id="{F8196AAF-DE3B-E1C3-6135-DD5497982955}"/>
                </a:ext>
              </a:extLst>
            </p:cNvPr>
            <p:cNvSpPr txBox="1">
              <a:spLocks/>
            </p:cNvSpPr>
            <p:nvPr/>
          </p:nvSpPr>
          <p:spPr>
            <a:xfrm>
              <a:off x="5888266" y="1973619"/>
              <a:ext cx="3683782" cy="672447"/>
            </a:xfrm>
            <a:prstGeom prst="rect">
              <a:avLst/>
            </a:prstGeom>
          </p:spPr>
          <p:txBody>
            <a:bodyPr vert="horz" lIns="93920" tIns="46961" rIns="93920" bIns="46961" rtlCol="0">
              <a:no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1035565">
                <a:buNone/>
                <a:defRPr/>
              </a:pPr>
              <a:r>
                <a:rPr lang="en-US" sz="2856" b="1" spc="-103">
                  <a:solidFill>
                    <a:schemeClr val="bg1"/>
                  </a:solidFill>
                  <a:latin typeface="Segoe UI Light" pitchFamily="34" charset="0"/>
                </a:rPr>
                <a:t>Sergio Parra Guerra</a:t>
              </a:r>
            </a:p>
          </p:txBody>
        </p:sp>
        <p:sp>
          <p:nvSpPr>
            <p:cNvPr id="5" name="Text Placeholder 4">
              <a:extLst>
                <a:ext uri="{FF2B5EF4-FFF2-40B4-BE49-F238E27FC236}">
                  <a16:creationId xmlns:a16="http://schemas.microsoft.com/office/drawing/2014/main" id="{BCDAA088-6E17-72EE-3DDE-C562B8128F1E}"/>
                </a:ext>
              </a:extLst>
            </p:cNvPr>
            <p:cNvSpPr txBox="1">
              <a:spLocks/>
            </p:cNvSpPr>
            <p:nvPr/>
          </p:nvSpPr>
          <p:spPr>
            <a:xfrm>
              <a:off x="5888266" y="2716426"/>
              <a:ext cx="4482761" cy="1495509"/>
            </a:xfrm>
            <a:prstGeom prst="rect">
              <a:avLst/>
            </a:prstGeom>
          </p:spPr>
          <p:txBody>
            <a:bodyPr vert="horz" lIns="93920" tIns="46961" rIns="93920" bIns="46961" rtlCol="0">
              <a:norm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1035565">
                <a:buNone/>
                <a:defRPr/>
              </a:pPr>
              <a:r>
                <a:rPr lang="en-US" sz="2641" spc="-103">
                  <a:solidFill>
                    <a:schemeClr val="bg1"/>
                  </a:solidFill>
                  <a:latin typeface="Segoe UI Light" pitchFamily="34" charset="0"/>
                </a:rPr>
                <a:t>ENCAMINA</a:t>
              </a:r>
            </a:p>
            <a:p>
              <a:pPr marL="0" lvl="1" indent="0" defTabSz="1035565">
                <a:spcBef>
                  <a:spcPts val="1040"/>
                </a:spcBef>
                <a:buNone/>
                <a:defRPr/>
              </a:pPr>
              <a:r>
                <a:rPr lang="en-US" sz="1696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@sparraguerra</a:t>
              </a:r>
              <a:endParaRPr lang="en-US" sz="1132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marL="353271" lvl="1" indent="0" defTabSz="1035565">
                <a:buNone/>
                <a:defRPr/>
              </a:pPr>
              <a:endParaRPr lang="en-US" sz="1132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endParaRPr>
            </a:p>
            <a:p>
              <a:pPr marL="388337" indent="-388337" defTabSz="1035565">
                <a:defRPr/>
              </a:pPr>
              <a:endParaRPr lang="en-US" sz="2641">
                <a:solidFill>
                  <a:schemeClr val="bg1"/>
                </a:solidFill>
              </a:endParaRPr>
            </a:p>
            <a:p>
              <a:pPr marL="388337" indent="-388337" defTabSz="1035565">
                <a:defRPr/>
              </a:pPr>
              <a:endParaRPr lang="en-US" sz="1509">
                <a:solidFill>
                  <a:schemeClr val="bg1"/>
                </a:solidFill>
              </a:endParaRPr>
            </a:p>
          </p:txBody>
        </p:sp>
        <p:pic>
          <p:nvPicPr>
            <p:cNvPr id="6" name="Marcador de posición de imagen 7">
              <a:extLst>
                <a:ext uri="{FF2B5EF4-FFF2-40B4-BE49-F238E27FC236}">
                  <a16:creationId xmlns:a16="http://schemas.microsoft.com/office/drawing/2014/main" id="{347F97BE-7FF4-3332-D39E-303DD6E4D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450511">
              <a:off x="9135847" y="1095884"/>
              <a:ext cx="1330214" cy="1330213"/>
            </a:xfrm>
            <a:prstGeom prst="ellipse">
              <a:avLst/>
            </a:prstGeom>
            <a:solidFill>
              <a:srgbClr val="FFFFFF">
                <a:shade val="85000"/>
              </a:srgbClr>
            </a:solidFill>
            <a:ln w="762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11853BF-ECF9-6F15-97B1-A681138E14A0}"/>
              </a:ext>
            </a:extLst>
          </p:cNvPr>
          <p:cNvGrpSpPr/>
          <p:nvPr/>
        </p:nvGrpSpPr>
        <p:grpSpPr>
          <a:xfrm>
            <a:off x="2415457" y="2190130"/>
            <a:ext cx="6778163" cy="3406457"/>
            <a:chOff x="624308" y="1109161"/>
            <a:chExt cx="5593929" cy="2761328"/>
          </a:xfrm>
        </p:grpSpPr>
        <p:sp>
          <p:nvSpPr>
            <p:cNvPr id="8" name="Subtitle 1">
              <a:extLst>
                <a:ext uri="{FF2B5EF4-FFF2-40B4-BE49-F238E27FC236}">
                  <a16:creationId xmlns:a16="http://schemas.microsoft.com/office/drawing/2014/main" id="{381433C5-3E9C-0F2B-29AF-36FCDD05776A}"/>
                </a:ext>
              </a:extLst>
            </p:cNvPr>
            <p:cNvSpPr txBox="1">
              <a:spLocks/>
            </p:cNvSpPr>
            <p:nvPr/>
          </p:nvSpPr>
          <p:spPr>
            <a:xfrm>
              <a:off x="625694" y="1928307"/>
              <a:ext cx="4585267" cy="610271"/>
            </a:xfrm>
            <a:prstGeom prst="rect">
              <a:avLst/>
            </a:prstGeom>
          </p:spPr>
          <p:txBody>
            <a:bodyPr vert="horz" wrap="square" lIns="172507" tIns="172507" rIns="0" bIns="0" rtlCol="0" anchor="t" anchorCtr="0">
              <a:spAutoFit/>
            </a:bodyPr>
            <a:lstStyle>
              <a:lvl1pPr marL="633579" indent="-630079" algn="l" defTabSz="995548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lang="en-US" sz="3528" b="1" kern="1200" spc="-110" baseline="0" dirty="0" smtClean="0">
                  <a:solidFill>
                    <a:schemeClr val="tx1">
                      <a:alpha val="99000"/>
                    </a:schemeClr>
                  </a:solidFill>
                  <a:latin typeface="Segoe UI Light" pitchFamily="34" charset="0"/>
                  <a:ea typeface="Segoe UI" pitchFamily="34" charset="0"/>
                  <a:cs typeface="Segoe UI" pitchFamily="34" charset="0"/>
                </a:defRPr>
              </a:lvl1pPr>
              <a:lvl2pPr marL="381548" indent="-378047" algn="l" defTabSz="995548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lang="en-US" sz="1600" kern="1200" spc="-55" baseline="0" dirty="0" smtClean="0">
                  <a:solidFill>
                    <a:schemeClr val="tx1">
                      <a:alpha val="99000"/>
                    </a:schemeClr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59046" indent="-655406" defTabSz="1035565">
                <a:defRPr/>
              </a:pPr>
              <a:r>
                <a:rPr lang="es-ES" sz="2856" spc="-114">
                  <a:solidFill>
                    <a:schemeClr val="bg1">
                      <a:alpha val="99000"/>
                    </a:schemeClr>
                  </a:solidFill>
                </a:rPr>
                <a:t>Santiago Porras Rodríguez</a:t>
              </a:r>
            </a:p>
          </p:txBody>
        </p:sp>
        <p:sp>
          <p:nvSpPr>
            <p:cNvPr id="9" name="Text Placeholder 4">
              <a:extLst>
                <a:ext uri="{FF2B5EF4-FFF2-40B4-BE49-F238E27FC236}">
                  <a16:creationId xmlns:a16="http://schemas.microsoft.com/office/drawing/2014/main" id="{84A1FEE6-F126-254E-6A55-A8485AF7D685}"/>
                </a:ext>
              </a:extLst>
            </p:cNvPr>
            <p:cNvSpPr txBox="1">
              <a:spLocks/>
            </p:cNvSpPr>
            <p:nvPr/>
          </p:nvSpPr>
          <p:spPr>
            <a:xfrm>
              <a:off x="624308" y="2617540"/>
              <a:ext cx="5593929" cy="1252949"/>
            </a:xfrm>
            <a:prstGeom prst="rect">
              <a:avLst/>
            </a:prstGeom>
          </p:spPr>
          <p:txBody>
            <a:bodyPr vert="horz" wrap="square" lIns="172507" tIns="172507" rIns="0" bIns="0" rtlCol="0" anchor="t" anchorCtr="0">
              <a:sp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lang="en-US" sz="3528" b="0" kern="1200" spc="-110" baseline="0" dirty="0">
                  <a:solidFill>
                    <a:schemeClr val="tx1">
                      <a:alpha val="99000"/>
                    </a:schemeClr>
                  </a:solidFill>
                  <a:latin typeface="Segoe UI Light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1035565">
                <a:buNone/>
                <a:defRPr/>
              </a:pPr>
              <a:r>
                <a:rPr lang="en-US" sz="2641" spc="-114">
                  <a:solidFill>
                    <a:schemeClr val="bg1"/>
                  </a:solidFill>
                </a:rPr>
                <a:t>ENCAMINA</a:t>
              </a:r>
            </a:p>
            <a:p>
              <a:pPr marL="0" lvl="1" indent="0" defTabSz="1035565">
                <a:spcBef>
                  <a:spcPts val="1040"/>
                </a:spcBef>
                <a:buNone/>
                <a:defRPr/>
              </a:pPr>
              <a:r>
                <a:rPr lang="en-US" sz="1695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@saintwukong</a:t>
              </a:r>
              <a:r>
                <a:rPr lang="en-US" sz="1887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	</a:t>
              </a:r>
            </a:p>
            <a:p>
              <a:pPr marL="353271" lvl="1" indent="0" defTabSz="1035565">
                <a:buNone/>
                <a:defRPr/>
              </a:pPr>
              <a:endParaRPr lang="en-US" sz="1509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C536E790-EF03-7DD7-2B70-0BD4C119C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 rot="413800">
              <a:off x="4543154" y="1109161"/>
              <a:ext cx="1328873" cy="1328872"/>
            </a:xfrm>
            <a:prstGeom prst="ellipse">
              <a:avLst/>
            </a:prstGeom>
            <a:solidFill>
              <a:srgbClr val="FFFFFF">
                <a:shade val="85000"/>
              </a:srgbClr>
            </a:solidFill>
            <a:ln w="76200" cap="rnd">
              <a:solidFill>
                <a:srgbClr val="FFFFFF"/>
              </a:solidFill>
            </a:ln>
            <a:effectLst>
              <a:outerShdw blurRad="50000" algn="tl" rotWithShape="0">
                <a:srgbClr val="000000">
                  <a:alpha val="41000"/>
                </a:srgbClr>
              </a:outerShdw>
            </a:effectLst>
            <a:scene3d>
              <a:camera prst="orthographicFront"/>
              <a:lightRig rig="twoPt" dir="t">
                <a:rot lat="0" lon="0" rev="7800000"/>
              </a:lightRig>
            </a:scene3d>
            <a:sp3d contourW="6350">
              <a:bevelT w="50800" h="16510"/>
              <a:contourClr>
                <a:srgbClr val="C0C0C0"/>
              </a:contourClr>
            </a:sp3d>
          </p:spPr>
        </p:pic>
      </p:grpSp>
      <p:pic>
        <p:nvPicPr>
          <p:cNvPr id="11" name="Picture 16">
            <a:extLst>
              <a:ext uri="{FF2B5EF4-FFF2-40B4-BE49-F238E27FC236}">
                <a16:creationId xmlns:a16="http://schemas.microsoft.com/office/drawing/2014/main" id="{BAD82815-16C3-2C06-7617-EDEC2B02F4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86442" y="6078169"/>
            <a:ext cx="2671799" cy="1321056"/>
          </a:xfrm>
          <a:prstGeom prst="rect">
            <a:avLst/>
          </a:prstGeom>
        </p:spPr>
      </p:pic>
      <p:pic>
        <p:nvPicPr>
          <p:cNvPr id="12" name="Imagen 2">
            <a:extLst>
              <a:ext uri="{FF2B5EF4-FFF2-40B4-BE49-F238E27FC236}">
                <a16:creationId xmlns:a16="http://schemas.microsoft.com/office/drawing/2014/main" id="{58449AE9-C131-BFF2-BEF2-7ABA733D59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93048" y="6072641"/>
            <a:ext cx="2773114" cy="1118847"/>
          </a:xfrm>
          <a:prstGeom prst="rect">
            <a:avLst/>
          </a:prstGeom>
        </p:spPr>
      </p:pic>
      <p:pic>
        <p:nvPicPr>
          <p:cNvPr id="13" name="Picture 12" descr="A person wearing a garment&#10;&#10;Description automatically generated with medium confidence">
            <a:extLst>
              <a:ext uri="{FF2B5EF4-FFF2-40B4-BE49-F238E27FC236}">
                <a16:creationId xmlns:a16="http://schemas.microsoft.com/office/drawing/2014/main" id="{C86D73BF-B568-ADB7-EC10-CE0667A908D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155" y="1462314"/>
            <a:ext cx="3001574" cy="5740271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E3D2F48-E383-0F7C-7CF4-9404F44A7A3C}"/>
              </a:ext>
            </a:extLst>
          </p:cNvPr>
          <p:cNvGrpSpPr/>
          <p:nvPr/>
        </p:nvGrpSpPr>
        <p:grpSpPr>
          <a:xfrm>
            <a:off x="6601532" y="3335230"/>
            <a:ext cx="8620269" cy="2169837"/>
            <a:chOff x="6632214" y="1973619"/>
            <a:chExt cx="6032375" cy="3226236"/>
          </a:xfrm>
        </p:grpSpPr>
        <p:sp>
          <p:nvSpPr>
            <p:cNvPr id="15" name="Text Placeholder 4">
              <a:extLst>
                <a:ext uri="{FF2B5EF4-FFF2-40B4-BE49-F238E27FC236}">
                  <a16:creationId xmlns:a16="http://schemas.microsoft.com/office/drawing/2014/main" id="{2CBB20D5-F8B2-1A8B-B949-436536EA600C}"/>
                </a:ext>
              </a:extLst>
            </p:cNvPr>
            <p:cNvSpPr txBox="1">
              <a:spLocks/>
            </p:cNvSpPr>
            <p:nvPr/>
          </p:nvSpPr>
          <p:spPr>
            <a:xfrm>
              <a:off x="6632214" y="3704345"/>
              <a:ext cx="6032375" cy="1495510"/>
            </a:xfrm>
            <a:prstGeom prst="rect">
              <a:avLst/>
            </a:prstGeom>
          </p:spPr>
          <p:txBody>
            <a:bodyPr vert="horz" lIns="93920" tIns="46961" rIns="93920" bIns="46961" rtlCol="0">
              <a:norm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1035565">
                <a:buNone/>
                <a:defRPr/>
              </a:pPr>
              <a:r>
                <a:rPr lang="en-US" sz="3672" b="1" spc="-103">
                  <a:solidFill>
                    <a:schemeClr val="bg1"/>
                  </a:solidFill>
                  <a:latin typeface="Segoe UI Light" pitchFamily="34" charset="0"/>
                </a:rPr>
                <a:t>ENCAMINA</a:t>
              </a:r>
              <a:endParaRPr lang="en-US" sz="1632" b="1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6" name="Subtitle 1">
              <a:extLst>
                <a:ext uri="{FF2B5EF4-FFF2-40B4-BE49-F238E27FC236}">
                  <a16:creationId xmlns:a16="http://schemas.microsoft.com/office/drawing/2014/main" id="{81BB50C8-C17A-41F9-05E1-B0A332E8A3FF}"/>
                </a:ext>
              </a:extLst>
            </p:cNvPr>
            <p:cNvSpPr txBox="1">
              <a:spLocks/>
            </p:cNvSpPr>
            <p:nvPr/>
          </p:nvSpPr>
          <p:spPr>
            <a:xfrm>
              <a:off x="6632214" y="1973619"/>
              <a:ext cx="5728947" cy="672447"/>
            </a:xfrm>
            <a:prstGeom prst="rect">
              <a:avLst/>
            </a:prstGeom>
          </p:spPr>
          <p:txBody>
            <a:bodyPr vert="horz" lIns="93920" tIns="46961" rIns="93920" bIns="46961" rtlCol="0">
              <a:noAutofit/>
            </a:bodyPr>
            <a:lstStyle>
              <a:lvl1pPr marL="373331" indent="-373331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1pPr>
              <a:lvl2pPr marL="808882" indent="-311109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lang="es-ES" sz="1600" kern="1200" dirty="0" smtClean="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2pPr>
              <a:lvl3pPr marL="1244436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3pPr>
              <a:lvl4pPr marL="174220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4pPr>
              <a:lvl5pPr marL="2239983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1600" kern="1200">
                  <a:solidFill>
                    <a:schemeClr val="tx1"/>
                  </a:solidFill>
                  <a:latin typeface="Segoe UI" pitchFamily="34" charset="0"/>
                  <a:ea typeface="Segoe UI" pitchFamily="34" charset="0"/>
                  <a:cs typeface="Segoe UI" pitchFamily="34" charset="0"/>
                </a:defRPr>
              </a:lvl5pPr>
              <a:lvl6pPr marL="2737757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235531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733305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231079" indent="-248887" algn="l" defTabSz="99554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199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defTabSz="1035565">
                <a:buNone/>
                <a:defRPr/>
              </a:pPr>
              <a:r>
                <a:rPr lang="es-ES" sz="6119" b="1" spc="-103">
                  <a:solidFill>
                    <a:srgbClr val="FFC000">
                      <a:alpha val="99000"/>
                    </a:srgbClr>
                  </a:solidFill>
                  <a:latin typeface="Segoe UI Light" pitchFamily="34" charset="0"/>
                </a:rPr>
                <a:t>S</a:t>
              </a:r>
              <a:r>
                <a:rPr lang="en-US" sz="6119" b="1" spc="-103" err="1">
                  <a:solidFill>
                    <a:srgbClr val="FFC000">
                      <a:alpha val="99000"/>
                    </a:srgbClr>
                  </a:solidFill>
                  <a:latin typeface="Segoe UI Light" pitchFamily="34" charset="0"/>
                </a:rPr>
                <a:t>antiago</a:t>
              </a:r>
              <a:r>
                <a:rPr lang="en-US" sz="6119" b="1" spc="-103">
                  <a:solidFill>
                    <a:srgbClr val="FFC000">
                      <a:alpha val="99000"/>
                    </a:srgbClr>
                  </a:solidFill>
                  <a:latin typeface="Segoe UI Light" pitchFamily="34" charset="0"/>
                </a:rPr>
                <a:t> Parra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116 L 5E-6 -0.00093 C -0.01237 0.00046 -0.02473 0.00069 -0.03697 0.0037 C -0.05925 0.00926 -0.06484 0.01736 -0.08567 0.02662 C -0.09322 0.02986 -0.10118 0.03078 -0.1086 0.03449 C -0.11615 0.03819 -0.12318 0.04421 -0.13047 0.04838 C -0.14454 0.05671 -0.15743 0.06041 -0.1724 0.06435 C -0.18698 0.06828 -0.17982 0.06713 -0.19375 0.06828 C -0.19688 0.06944 -0.2 0.0706 -0.20326 0.07129 C -0.20756 0.07222 -0.21185 0.07222 -0.21615 0.07338 C -0.23998 0.08032 -0.20599 0.07546 -0.23347 0.07824 L -0.24128 0.08241 C -0.24271 0.0831 -0.24428 0.08403 -0.24571 0.08426 C -0.24961 0.08495 -0.25365 0.08495 -0.25756 0.08541 C -0.26211 0.08796 -0.25964 0.08727 -0.26472 0.08727 " pathEditMode="relative" rAng="0" ptsTypes="AAAAAAAAAAAAA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42" y="442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8 -0.00208 L -0.00118 -0.00185 C 0.01653 0.00718 -0.00287 -0.00231 0.03958 0.00672 C 0.0496 0.0088 0.0595 0.01135 0.06927 0.01459 C 0.0802 0.01829 0.09088 0.02338 0.10182 0.02755 C 0.10664 0.0294 0.11145 0.03079 0.11627 0.03264 C 0.11966 0.0338 0.12304 0.03519 0.12643 0.03658 C 0.12786 0.03727 0.12942 0.03797 0.13085 0.03866 C 0.13333 0.03935 0.13567 0.03982 0.13815 0.04051 C 0.14036 0.0419 0.14257 0.04375 0.14492 0.04445 C 0.15833 0.04954 0.14687 0.04306 0.15442 0.04653 C 0.16002 0.04908 0.16549 0.05232 0.17122 0.0544 C 0.18125 0.05834 0.17643 0.05672 0.1858 0.05949 L 0.19023 0.0625 C 0.19127 0.0632 0.19257 0.06343 0.19362 0.06435 C 0.19466 0.06551 0.19531 0.06736 0.19635 0.06829 C 0.19739 0.06945 0.19869 0.06968 0.19973 0.07037 C 0.20234 0.07199 0.20403 0.07385 0.20703 0.07431 C 0.21302 0.07523 0.21901 0.075 0.225 0.07523 C 0.22591 0.07639 0.22669 0.07755 0.22773 0.07824 C 0.22838 0.07894 0.22929 0.07894 0.22994 0.0794 C 0.23059 0.07963 0.23112 0.0801 0.23164 0.08033 C 0.23593 0.08172 0.23684 0.08125 0.24179 0.08125 " pathEditMode="relative" rAng="0" ptsTypes="AAAAAAAAAAAAAAAAAAAAA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148" y="4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00"/>
                            </p:stCondLst>
                            <p:childTnLst>
                              <p:par>
                                <p:cTn id="3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500"/>
                            </p:stCondLst>
                            <p:childTnLst>
                              <p:par>
                                <p:cTn id="43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500"/>
                            </p:stCondLst>
                            <p:childTnLst>
                              <p:par>
                                <p:cTn id="48" presetID="16" presetClass="exit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6" presetClass="exit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0"/>
                            </p:stCondLst>
                            <p:childTnLst>
                              <p:par>
                                <p:cTn id="5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0"/>
                            </p:stCondLst>
                            <p:childTnLst>
                              <p:par>
                                <p:cTn id="62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4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000"/>
                            </p:stCondLst>
                            <p:childTnLst>
                              <p:par>
                                <p:cTn id="66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0"/>
                            </p:stCondLst>
                            <p:childTnLst>
                              <p:par>
                                <p:cTn id="70" presetID="6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7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0"/>
                            </p:stCondLst>
                            <p:childTnLst>
                              <p:par>
                                <p:cTn id="74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000"/>
                            </p:stCondLst>
                            <p:childTnLst>
                              <p:par>
                                <p:cTn id="78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9" dur="1500" fill="hold"/>
                                        <p:tgtEl>
                                          <p:spTgt spid="13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3500"/>
                            </p:stCondLst>
                            <p:childTnLst>
                              <p:par>
                                <p:cTn id="81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11111E-6 L -0.25 -1.11111E-6 " pathEditMode="relative" rAng="0" ptsTypes="AA">
                                      <p:cBhvr>
                                        <p:cTn id="8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500"/>
                            </p:stCondLst>
                            <p:childTnLst>
                              <p:par>
                                <p:cTn id="8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cce5a755b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1440"/>
            <a:ext cx="18287543" cy="10287000"/>
          </a:xfrm>
          <a:prstGeom prst="rect">
            <a:avLst/>
          </a:prstGeom>
          <a:solidFill>
            <a:srgbClr val="17072E">
              <a:alpha val="68000"/>
            </a:srgbClr>
          </a:solidFill>
          <a:ln w="12700">
            <a:solidFill>
              <a:srgbClr val="170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1527062-D744-FA9C-13D0-4B985C221D77}"/>
              </a:ext>
            </a:extLst>
          </p:cNvPr>
          <p:cNvGrpSpPr/>
          <p:nvPr/>
        </p:nvGrpSpPr>
        <p:grpSpPr>
          <a:xfrm>
            <a:off x="0" y="2644902"/>
            <a:ext cx="7827264" cy="4741164"/>
            <a:chOff x="914400" y="818388"/>
            <a:chExt cx="7827264" cy="4741164"/>
          </a:xfrm>
        </p:grpSpPr>
        <p:sp>
          <p:nvSpPr>
            <p:cNvPr id="4" name="Shape 1"/>
            <p:cNvSpPr/>
            <p:nvPr/>
          </p:nvSpPr>
          <p:spPr>
            <a:xfrm>
              <a:off x="914400" y="818388"/>
              <a:ext cx="7827264" cy="4741164"/>
            </a:xfrm>
            <a:prstGeom prst="rect">
              <a:avLst/>
            </a:prstGeom>
            <a:solidFill>
              <a:srgbClr val="17072E">
                <a:alpha val="86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s-ES" sz="2100"/>
            </a:p>
          </p:txBody>
        </p:sp>
        <p:sp>
          <p:nvSpPr>
            <p:cNvPr id="5" name="Text 2"/>
            <p:cNvSpPr/>
            <p:nvPr/>
          </p:nvSpPr>
          <p:spPr>
            <a:xfrm>
              <a:off x="1371600" y="1508760"/>
              <a:ext cx="7114032" cy="795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200" b="1">
                  <a:solidFill>
                    <a:srgbClr val="FF8A3D"/>
                  </a:solidFill>
                </a:rPr>
                <a:t>AGENDA</a:t>
              </a:r>
              <a:endParaRPr lang="en-US" sz="4200"/>
            </a:p>
          </p:txBody>
        </p:sp>
        <p:sp>
          <p:nvSpPr>
            <p:cNvPr id="6" name="Text 3"/>
            <p:cNvSpPr/>
            <p:nvPr/>
          </p:nvSpPr>
          <p:spPr>
            <a:xfrm>
              <a:off x="1371600" y="2496312"/>
              <a:ext cx="7114032" cy="2125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r>
                <a:rPr lang="en-US" sz="4650" b="1">
                  <a:solidFill>
                    <a:srgbClr val="FFFFFF"/>
                  </a:solidFill>
                </a:rPr>
                <a:t>1. COSAS CHULAS</a:t>
              </a:r>
            </a:p>
            <a:p>
              <a:r>
                <a:rPr lang="en-US" sz="4650" b="1">
                  <a:solidFill>
                    <a:srgbClr val="FFFFFF"/>
                  </a:solidFill>
                </a:rPr>
                <a:t>2. DEMO</a:t>
              </a:r>
            </a:p>
            <a:p>
              <a:r>
                <a:rPr lang="en-US" sz="4650" b="1">
                  <a:solidFill>
                    <a:srgbClr val="FFFFFF"/>
                  </a:solidFill>
                </a:rPr>
                <a:t>3. COSAS CHACHIS</a:t>
              </a:r>
              <a:endParaRPr lang="en-US" sz="465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4A335-64C0-C127-08E2-D29E1BD139EC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2.png">
            <a:extLst>
              <a:ext uri="{FF2B5EF4-FFF2-40B4-BE49-F238E27FC236}">
                <a16:creationId xmlns:a16="http://schemas.microsoft.com/office/drawing/2014/main" id="{D234B50D-E309-1E49-EB41-0FEED65FC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105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05BF4C8A-6C8D-9194-BC5D-8D8361196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"/>
            <a:ext cx="146304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459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AI_Spectrum_Adventure_NetCoreConf_Madrid_2026 1/slide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8BE728-9408-498D-71B1-CFBAB48B9B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88704" y="4131426"/>
            <a:ext cx="2959252" cy="297830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692179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E52D8A"/>
                </a:solidFill>
              </a:rPr>
              <a:t>10 · MAPA DE CONEXIONES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24152D"/>
                </a:solidFill>
              </a:rPr>
              <a:t>Quién llama a quién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891540" y="2880360"/>
            <a:ext cx="2811780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55B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110996" y="309981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UI / Blazor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110996" y="3675888"/>
            <a:ext cx="2372868" cy="1412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Entrada y render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3744468" y="3730752"/>
            <a:ext cx="384048" cy="617220"/>
          </a:xfrm>
          <a:prstGeom prst="chevron">
            <a:avLst/>
          </a:prstGeom>
          <a:solidFill>
            <a:srgbClr val="692179"/>
          </a:solidFill>
          <a:ln w="12700">
            <a:solidFill>
              <a:srgbClr val="6921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1" name="Shape 9"/>
          <p:cNvSpPr/>
          <p:nvPr/>
        </p:nvSpPr>
        <p:spPr>
          <a:xfrm>
            <a:off x="4320540" y="2880360"/>
            <a:ext cx="2811780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8B2BB6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4539996" y="309981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Application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4539996" y="3675888"/>
            <a:ext cx="2372868" cy="1412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Orquestación</a:t>
            </a:r>
            <a:endParaRPr lang="en-US" sz="1725"/>
          </a:p>
        </p:txBody>
      </p:sp>
      <p:sp>
        <p:nvSpPr>
          <p:cNvPr id="14" name="Shape 12"/>
          <p:cNvSpPr/>
          <p:nvPr/>
        </p:nvSpPr>
        <p:spPr>
          <a:xfrm>
            <a:off x="7173468" y="3730752"/>
            <a:ext cx="384048" cy="617220"/>
          </a:xfrm>
          <a:prstGeom prst="chevron">
            <a:avLst/>
          </a:prstGeom>
          <a:solidFill>
            <a:srgbClr val="692179"/>
          </a:solidFill>
          <a:ln w="12700">
            <a:solidFill>
              <a:srgbClr val="6921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5" name="Shape 13"/>
          <p:cNvSpPr/>
          <p:nvPr/>
        </p:nvSpPr>
        <p:spPr>
          <a:xfrm>
            <a:off x="7749540" y="2880360"/>
            <a:ext cx="2811780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7968996" y="309981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Domain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7968996" y="3675888"/>
            <a:ext cx="2372868" cy="1412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Reglas y eventos</a:t>
            </a:r>
            <a:endParaRPr lang="en-US" sz="1725"/>
          </a:p>
        </p:txBody>
      </p:sp>
      <p:sp>
        <p:nvSpPr>
          <p:cNvPr id="18" name="Shape 16"/>
          <p:cNvSpPr/>
          <p:nvPr/>
        </p:nvSpPr>
        <p:spPr>
          <a:xfrm>
            <a:off x="10602468" y="3730752"/>
            <a:ext cx="384048" cy="617220"/>
          </a:xfrm>
          <a:prstGeom prst="chevron">
            <a:avLst/>
          </a:prstGeom>
          <a:solidFill>
            <a:srgbClr val="692179"/>
          </a:solidFill>
          <a:ln w="12700">
            <a:solidFill>
              <a:srgbClr val="6921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9" name="Shape 17"/>
          <p:cNvSpPr/>
          <p:nvPr/>
        </p:nvSpPr>
        <p:spPr>
          <a:xfrm>
            <a:off x="11178540" y="2880360"/>
            <a:ext cx="2811780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20" name="Text 18"/>
          <p:cNvSpPr/>
          <p:nvPr/>
        </p:nvSpPr>
        <p:spPr>
          <a:xfrm>
            <a:off x="11397996" y="309981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Agents</a:t>
            </a:r>
            <a:endParaRPr lang="en-US" sz="2250"/>
          </a:p>
        </p:txBody>
      </p:sp>
      <p:sp>
        <p:nvSpPr>
          <p:cNvPr id="21" name="Text 19"/>
          <p:cNvSpPr/>
          <p:nvPr/>
        </p:nvSpPr>
        <p:spPr>
          <a:xfrm>
            <a:off x="11397996" y="3675888"/>
            <a:ext cx="2372868" cy="1412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Interpretar y narrar</a:t>
            </a:r>
            <a:endParaRPr lang="en-US" sz="1725"/>
          </a:p>
        </p:txBody>
      </p:sp>
      <p:sp>
        <p:nvSpPr>
          <p:cNvPr id="22" name="Shape 20"/>
          <p:cNvSpPr/>
          <p:nvPr/>
        </p:nvSpPr>
        <p:spPr>
          <a:xfrm>
            <a:off x="14031468" y="3730752"/>
            <a:ext cx="384048" cy="617220"/>
          </a:xfrm>
          <a:prstGeom prst="chevron">
            <a:avLst/>
          </a:prstGeom>
          <a:solidFill>
            <a:srgbClr val="692179"/>
          </a:solidFill>
          <a:ln w="12700">
            <a:solidFill>
              <a:srgbClr val="6921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23" name="Shape 21"/>
          <p:cNvSpPr/>
          <p:nvPr/>
        </p:nvSpPr>
        <p:spPr>
          <a:xfrm>
            <a:off x="14607540" y="2880360"/>
            <a:ext cx="2811780" cy="24003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240">
            <a:solidFill>
              <a:srgbClr val="FF8A3D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24" name="Text 22"/>
          <p:cNvSpPr/>
          <p:nvPr/>
        </p:nvSpPr>
        <p:spPr>
          <a:xfrm>
            <a:off x="14826996" y="309981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Infra</a:t>
            </a:r>
            <a:endParaRPr lang="en-US" sz="2250"/>
          </a:p>
        </p:txBody>
      </p:sp>
      <p:sp>
        <p:nvSpPr>
          <p:cNvPr id="25" name="Text 23"/>
          <p:cNvSpPr/>
          <p:nvPr/>
        </p:nvSpPr>
        <p:spPr>
          <a:xfrm>
            <a:off x="14826996" y="3675888"/>
            <a:ext cx="2372868" cy="14127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PostgreSQL, Blob, cola</a:t>
            </a:r>
            <a:endParaRPr lang="en-US" sz="1725"/>
          </a:p>
        </p:txBody>
      </p:sp>
      <p:sp>
        <p:nvSpPr>
          <p:cNvPr id="26" name="Text 24"/>
          <p:cNvSpPr/>
          <p:nvPr/>
        </p:nvSpPr>
        <p:spPr>
          <a:xfrm>
            <a:off x="1783080" y="7063740"/>
            <a:ext cx="1481328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>
                <a:solidFill>
                  <a:srgbClr val="692179"/>
                </a:solidFill>
              </a:rPr>
              <a:t>Application coordina. Domain decide. Los adaptadores traducen y persisten.</a:t>
            </a:r>
            <a:endParaRPr lang="en-US" sz="33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F3EFFF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FF8A3D"/>
                </a:solidFill>
              </a:rPr>
              <a:t>11 · PUERTOS Y FRONTERAS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FFFFFF"/>
                </a:solidFill>
              </a:rPr>
              <a:t>Las conexiones son contratos, no atajos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165860" y="2743200"/>
            <a:ext cx="4869180" cy="2743200"/>
          </a:xfrm>
          <a:prstGeom prst="roundRect">
            <a:avLst>
              <a:gd name="adj" fmla="val 3000"/>
            </a:avLst>
          </a:prstGeom>
          <a:solidFill>
            <a:srgbClr val="2F1767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385316" y="2962656"/>
            <a:ext cx="4430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IIntentInterpreter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385316" y="3538728"/>
            <a:ext cx="4430268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Texto + contexto mínimo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→ ParsedIntent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6720840" y="2743200"/>
            <a:ext cx="4869180" cy="2743200"/>
          </a:xfrm>
          <a:prstGeom prst="roundRect">
            <a:avLst>
              <a:gd name="adj" fmla="val 3000"/>
            </a:avLst>
          </a:prstGeom>
          <a:solidFill>
            <a:srgbClr val="2F1767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1" name="Text 9"/>
          <p:cNvSpPr/>
          <p:nvPr/>
        </p:nvSpPr>
        <p:spPr>
          <a:xfrm>
            <a:off x="6940296" y="2962656"/>
            <a:ext cx="4430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IGameRepository</a:t>
            </a:r>
            <a:endParaRPr lang="en-US" sz="2250"/>
          </a:p>
        </p:txBody>
      </p:sp>
      <p:sp>
        <p:nvSpPr>
          <p:cNvPr id="12" name="Text 10"/>
          <p:cNvSpPr/>
          <p:nvPr/>
        </p:nvSpPr>
        <p:spPr>
          <a:xfrm>
            <a:off x="6940296" y="3538728"/>
            <a:ext cx="4430268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Aggregate + expectedVersion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→ commit transaccional</a:t>
            </a:r>
            <a:endParaRPr lang="en-US" sz="1725"/>
          </a:p>
        </p:txBody>
      </p:sp>
      <p:sp>
        <p:nvSpPr>
          <p:cNvPr id="13" name="Shape 11"/>
          <p:cNvSpPr/>
          <p:nvPr/>
        </p:nvSpPr>
        <p:spPr>
          <a:xfrm>
            <a:off x="12275820" y="2743200"/>
            <a:ext cx="4869180" cy="2743200"/>
          </a:xfrm>
          <a:prstGeom prst="roundRect">
            <a:avLst>
              <a:gd name="adj" fmla="val 3000"/>
            </a:avLst>
          </a:prstGeom>
          <a:solidFill>
            <a:srgbClr val="2F1767"/>
          </a:solidFill>
          <a:ln w="15240">
            <a:solidFill>
              <a:srgbClr val="FF8A3D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4" name="Text 12"/>
          <p:cNvSpPr/>
          <p:nvPr/>
        </p:nvSpPr>
        <p:spPr>
          <a:xfrm>
            <a:off x="12495276" y="2962656"/>
            <a:ext cx="44302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IVisualJobQueue</a:t>
            </a:r>
            <a:endParaRPr lang="en-US" sz="2250"/>
          </a:p>
        </p:txBody>
      </p:sp>
      <p:sp>
        <p:nvSpPr>
          <p:cNvPr id="15" name="Text 13"/>
          <p:cNvSpPr/>
          <p:nvPr/>
        </p:nvSpPr>
        <p:spPr>
          <a:xfrm>
            <a:off x="12495276" y="3538728"/>
            <a:ext cx="4430268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VisualSceneSpec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→ trabajo asíncrono</a:t>
            </a:r>
            <a:endParaRPr lang="en-US" sz="1725"/>
          </a:p>
        </p:txBody>
      </p:sp>
      <p:sp>
        <p:nvSpPr>
          <p:cNvPr id="16" name="Text 14"/>
          <p:cNvSpPr/>
          <p:nvPr/>
        </p:nvSpPr>
        <p:spPr>
          <a:xfrm>
            <a:off x="1920240" y="6446520"/>
            <a:ext cx="1440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50" b="1">
                <a:solidFill>
                  <a:srgbClr val="FF8A3D"/>
                </a:solidFill>
              </a:rPr>
              <a:t>Entrada tipada, salida validable y un fallo previsto en cada borde.</a:t>
            </a:r>
            <a:endParaRPr lang="en-US" sz="34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692179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E52D8A"/>
                </a:solidFill>
              </a:rPr>
              <a:t>12 · INTÉRPRETE DE INTENCIONES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24152D"/>
                </a:solidFill>
              </a:rPr>
              <a:t>El intérprete traduce, no autoriza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234440" y="2743200"/>
            <a:ext cx="4663440" cy="33604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55B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453896" y="2962656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Entrada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453896" y="3538728"/>
            <a:ext cx="4224528" cy="23728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“Usa la llave oxidada”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+ IDs visibles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+ acciones permitidas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6240780" y="4046220"/>
            <a:ext cx="576072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1" name="Shape 9"/>
          <p:cNvSpPr/>
          <p:nvPr/>
        </p:nvSpPr>
        <p:spPr>
          <a:xfrm>
            <a:off x="7132320" y="2743200"/>
            <a:ext cx="4389120" cy="33604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7351776" y="2962656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ParsedIntent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7351776" y="3538728"/>
            <a:ext cx="3950208" cy="23728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verb: USE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objectId: rusty-key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targetId: lighthouse-door</a:t>
            </a:r>
            <a:endParaRPr lang="en-US" sz="1725"/>
          </a:p>
        </p:txBody>
      </p:sp>
      <p:sp>
        <p:nvSpPr>
          <p:cNvPr id="14" name="Shape 12"/>
          <p:cNvSpPr/>
          <p:nvPr/>
        </p:nvSpPr>
        <p:spPr>
          <a:xfrm>
            <a:off x="11864340" y="4046220"/>
            <a:ext cx="576072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5" name="Shape 13"/>
          <p:cNvSpPr/>
          <p:nvPr/>
        </p:nvSpPr>
        <p:spPr>
          <a:xfrm>
            <a:off x="12755880" y="2743200"/>
            <a:ext cx="4251960" cy="336042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12975336" y="2962656"/>
            <a:ext cx="3813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Reglas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12975336" y="3538728"/>
            <a:ext cx="3813048" cy="23728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¿Está en inventario?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¿Es compatible?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¿Está en la escena?</a:t>
            </a:r>
            <a:endParaRPr lang="en-US" sz="1725"/>
          </a:p>
        </p:txBody>
      </p:sp>
      <p:sp>
        <p:nvSpPr>
          <p:cNvPr id="18" name="Text 16"/>
          <p:cNvSpPr/>
          <p:nvPr/>
        </p:nvSpPr>
        <p:spPr>
          <a:xfrm>
            <a:off x="2743200" y="7406640"/>
            <a:ext cx="127558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b="1">
                <a:solidFill>
                  <a:srgbClr val="692179"/>
                </a:solidFill>
              </a:rPr>
              <a:t>Entender la frase no convierte la acción en válida.</a:t>
            </a:r>
            <a:endParaRPr lang="en-US" sz="3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F3EFFF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FF8A3D"/>
                </a:solidFill>
              </a:rPr>
              <a:t>13 · DOMINIO Y TRANSACCIÓN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FFFFFF"/>
                </a:solidFill>
              </a:rPr>
              <a:t>Las reglas producen eventos; los eventos cambian el mundo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891540" y="2811780"/>
            <a:ext cx="2811780" cy="2125980"/>
          </a:xfrm>
          <a:prstGeom prst="roundRect">
            <a:avLst>
              <a:gd name="adj" fmla="val 3871"/>
            </a:avLst>
          </a:prstGeom>
          <a:solidFill>
            <a:srgbClr val="2F1767"/>
          </a:solidFill>
          <a:ln w="15240">
            <a:solidFill>
              <a:srgbClr val="55B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110996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Command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110996" y="3607308"/>
            <a:ext cx="2372868" cy="11384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UseItem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3771900" y="3497580"/>
            <a:ext cx="342900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1" name="Shape 9"/>
          <p:cNvSpPr/>
          <p:nvPr/>
        </p:nvSpPr>
        <p:spPr>
          <a:xfrm>
            <a:off x="4347972" y="2811780"/>
            <a:ext cx="2811780" cy="2125980"/>
          </a:xfrm>
          <a:prstGeom prst="roundRect">
            <a:avLst>
              <a:gd name="adj" fmla="val 3871"/>
            </a:avLst>
          </a:prstGeom>
          <a:solidFill>
            <a:srgbClr val="2F1767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4567428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RulesEngine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4567428" y="3607308"/>
            <a:ext cx="2372868" cy="11384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invariantes</a:t>
            </a:r>
            <a:endParaRPr lang="en-US" sz="1725"/>
          </a:p>
        </p:txBody>
      </p:sp>
      <p:sp>
        <p:nvSpPr>
          <p:cNvPr id="14" name="Shape 12"/>
          <p:cNvSpPr/>
          <p:nvPr/>
        </p:nvSpPr>
        <p:spPr>
          <a:xfrm>
            <a:off x="7228332" y="3497580"/>
            <a:ext cx="342900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5" name="Shape 13"/>
          <p:cNvSpPr/>
          <p:nvPr/>
        </p:nvSpPr>
        <p:spPr>
          <a:xfrm>
            <a:off x="7804404" y="2811780"/>
            <a:ext cx="2811780" cy="2125980"/>
          </a:xfrm>
          <a:prstGeom prst="roundRect">
            <a:avLst>
              <a:gd name="adj" fmla="val 3871"/>
            </a:avLst>
          </a:prstGeom>
          <a:solidFill>
            <a:srgbClr val="2F1767"/>
          </a:solidFill>
          <a:ln w="15240">
            <a:solidFill>
              <a:srgbClr val="FF8A3D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8023860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Event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8023860" y="3607308"/>
            <a:ext cx="2372868" cy="11384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DoorUnlocked</a:t>
            </a:r>
            <a:endParaRPr lang="en-US" sz="1725"/>
          </a:p>
        </p:txBody>
      </p:sp>
      <p:sp>
        <p:nvSpPr>
          <p:cNvPr id="18" name="Shape 16"/>
          <p:cNvSpPr/>
          <p:nvPr/>
        </p:nvSpPr>
        <p:spPr>
          <a:xfrm>
            <a:off x="10684764" y="3497580"/>
            <a:ext cx="342900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9" name="Shape 17"/>
          <p:cNvSpPr/>
          <p:nvPr/>
        </p:nvSpPr>
        <p:spPr>
          <a:xfrm>
            <a:off x="11260836" y="2811780"/>
            <a:ext cx="2811780" cy="2125980"/>
          </a:xfrm>
          <a:prstGeom prst="roundRect">
            <a:avLst>
              <a:gd name="adj" fmla="val 3871"/>
            </a:avLst>
          </a:prstGeom>
          <a:solidFill>
            <a:srgbClr val="2F1767"/>
          </a:solidFill>
          <a:ln w="15240">
            <a:solidFill>
              <a:srgbClr val="8B2BB6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20" name="Text 18"/>
          <p:cNvSpPr/>
          <p:nvPr/>
        </p:nvSpPr>
        <p:spPr>
          <a:xfrm>
            <a:off x="11480292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Aggregate</a:t>
            </a:r>
            <a:endParaRPr lang="en-US" sz="2250"/>
          </a:p>
        </p:txBody>
      </p:sp>
      <p:sp>
        <p:nvSpPr>
          <p:cNvPr id="21" name="Text 19"/>
          <p:cNvSpPr/>
          <p:nvPr/>
        </p:nvSpPr>
        <p:spPr>
          <a:xfrm>
            <a:off x="11480292" y="3607308"/>
            <a:ext cx="2372868" cy="11384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nuevo estado</a:t>
            </a:r>
            <a:endParaRPr lang="en-US" sz="1725"/>
          </a:p>
        </p:txBody>
      </p:sp>
      <p:sp>
        <p:nvSpPr>
          <p:cNvPr id="22" name="Shape 20"/>
          <p:cNvSpPr/>
          <p:nvPr/>
        </p:nvSpPr>
        <p:spPr>
          <a:xfrm>
            <a:off x="14141196" y="3497580"/>
            <a:ext cx="342900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23" name="Shape 21"/>
          <p:cNvSpPr/>
          <p:nvPr/>
        </p:nvSpPr>
        <p:spPr>
          <a:xfrm>
            <a:off x="14717268" y="2811780"/>
            <a:ext cx="2811780" cy="2125980"/>
          </a:xfrm>
          <a:prstGeom prst="roundRect">
            <a:avLst>
              <a:gd name="adj" fmla="val 3871"/>
            </a:avLst>
          </a:prstGeom>
          <a:solidFill>
            <a:srgbClr val="2F1767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24" name="Text 22"/>
          <p:cNvSpPr/>
          <p:nvPr/>
        </p:nvSpPr>
        <p:spPr>
          <a:xfrm>
            <a:off x="14936724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Repository</a:t>
            </a:r>
            <a:endParaRPr lang="en-US" sz="2250"/>
          </a:p>
        </p:txBody>
      </p:sp>
      <p:sp>
        <p:nvSpPr>
          <p:cNvPr id="25" name="Text 23"/>
          <p:cNvSpPr/>
          <p:nvPr/>
        </p:nvSpPr>
        <p:spPr>
          <a:xfrm>
            <a:off x="14936724" y="3607308"/>
            <a:ext cx="2372868" cy="11384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commit + versión</a:t>
            </a:r>
            <a:endParaRPr lang="en-US" sz="1725"/>
          </a:p>
        </p:txBody>
      </p:sp>
      <p:sp>
        <p:nvSpPr>
          <p:cNvPr id="26" name="Text 24"/>
          <p:cNvSpPr/>
          <p:nvPr/>
        </p:nvSpPr>
        <p:spPr>
          <a:xfrm>
            <a:off x="2125980" y="6515100"/>
            <a:ext cx="1399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>
                <a:solidFill>
                  <a:srgbClr val="FF5E78"/>
                </a:solidFill>
              </a:rPr>
              <a:t>Si una regla falla: cero eventos, cero commit, cero estado parcial.</a:t>
            </a:r>
            <a:endParaRPr lang="en-US" sz="3300"/>
          </a:p>
        </p:txBody>
      </p:sp>
      <p:sp>
        <p:nvSpPr>
          <p:cNvPr id="27" name="Text 25"/>
          <p:cNvSpPr/>
          <p:nvPr/>
        </p:nvSpPr>
        <p:spPr>
          <a:xfrm>
            <a:off x="3086100" y="7749540"/>
            <a:ext cx="12070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150" b="1">
                <a:solidFill>
                  <a:srgbClr val="55D98C"/>
                </a:solidFill>
              </a:rPr>
              <a:t>El narrador recibe el resultado después del commit.</a:t>
            </a:r>
            <a:endParaRPr lang="en-US" sz="31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692179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E52D8A"/>
                </a:solidFill>
              </a:rPr>
              <a:t>14 · ACTUALIZACIÓN PROGRESIVA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24152D"/>
                </a:solidFill>
              </a:rPr>
              <a:t>La interfaz progresa por capas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440180" y="2537460"/>
            <a:ext cx="795528" cy="795528"/>
          </a:xfrm>
          <a:prstGeom prst="ellipse">
            <a:avLst/>
          </a:prstGeom>
          <a:solidFill>
            <a:srgbClr val="55B7FF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440180" y="2756916"/>
            <a:ext cx="795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1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2674620" y="2619756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24152D"/>
                </a:solidFill>
              </a:rPr>
              <a:t>Respuesta textual</a:t>
            </a:r>
            <a:endParaRPr lang="en-US" sz="2700"/>
          </a:p>
        </p:txBody>
      </p:sp>
      <p:sp>
        <p:nvSpPr>
          <p:cNvPr id="10" name="Text 8"/>
          <p:cNvSpPr/>
          <p:nvPr/>
        </p:nvSpPr>
        <p:spPr>
          <a:xfrm>
            <a:off x="7269480" y="26334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56465E"/>
                </a:solidFill>
              </a:rPr>
              <a:t>inmediata</a:t>
            </a:r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1440180" y="4073652"/>
            <a:ext cx="795528" cy="795528"/>
          </a:xfrm>
          <a:prstGeom prst="ellipse">
            <a:avLst/>
          </a:prstGeom>
          <a:solidFill>
            <a:srgbClr val="55D98C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1440180" y="4293108"/>
            <a:ext cx="795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2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2674620" y="4155948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24152D"/>
                </a:solidFill>
              </a:rPr>
              <a:t>Estado de partida</a:t>
            </a:r>
            <a:endParaRPr lang="en-US" sz="2700"/>
          </a:p>
        </p:txBody>
      </p:sp>
      <p:sp>
        <p:nvSpPr>
          <p:cNvPr id="14" name="Text 12"/>
          <p:cNvSpPr/>
          <p:nvPr/>
        </p:nvSpPr>
        <p:spPr>
          <a:xfrm>
            <a:off x="7269480" y="41696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56465E"/>
                </a:solidFill>
              </a:rPr>
              <a:t>confirmado</a:t>
            </a:r>
            <a:endParaRPr lang="en-US" sz="2400"/>
          </a:p>
        </p:txBody>
      </p:sp>
      <p:sp>
        <p:nvSpPr>
          <p:cNvPr id="15" name="Shape 13"/>
          <p:cNvSpPr/>
          <p:nvPr/>
        </p:nvSpPr>
        <p:spPr>
          <a:xfrm>
            <a:off x="1440180" y="5609844"/>
            <a:ext cx="795528" cy="79552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1440180" y="5829300"/>
            <a:ext cx="795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3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2674620" y="56921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24152D"/>
                </a:solidFill>
              </a:rPr>
              <a:t>Placeholder visual</a:t>
            </a:r>
            <a:endParaRPr lang="en-US" sz="2700"/>
          </a:p>
        </p:txBody>
      </p:sp>
      <p:sp>
        <p:nvSpPr>
          <p:cNvPr id="18" name="Text 16"/>
          <p:cNvSpPr/>
          <p:nvPr/>
        </p:nvSpPr>
        <p:spPr>
          <a:xfrm>
            <a:off x="7269480" y="57058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56465E"/>
                </a:solidFill>
              </a:rPr>
              <a:t>sin bloquear</a:t>
            </a:r>
            <a:endParaRPr lang="en-US" sz="2400"/>
          </a:p>
        </p:txBody>
      </p:sp>
      <p:sp>
        <p:nvSpPr>
          <p:cNvPr id="19" name="Shape 17"/>
          <p:cNvSpPr/>
          <p:nvPr/>
        </p:nvSpPr>
        <p:spPr>
          <a:xfrm>
            <a:off x="1440180" y="7146036"/>
            <a:ext cx="795528" cy="795528"/>
          </a:xfrm>
          <a:prstGeom prst="ellipse">
            <a:avLst/>
          </a:prstGeom>
          <a:solidFill>
            <a:srgbClr val="E52D8A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20" name="Text 18"/>
          <p:cNvSpPr/>
          <p:nvPr/>
        </p:nvSpPr>
        <p:spPr>
          <a:xfrm>
            <a:off x="1440180" y="7365492"/>
            <a:ext cx="795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>
                <a:solidFill>
                  <a:srgbClr val="FFFFFF"/>
                </a:solidFill>
              </a:rPr>
              <a:t>4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2674620" y="7228332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>
                <a:solidFill>
                  <a:srgbClr val="24152D"/>
                </a:solidFill>
              </a:rPr>
              <a:t>Asset Ready</a:t>
            </a:r>
            <a:endParaRPr lang="en-US" sz="2700"/>
          </a:p>
        </p:txBody>
      </p:sp>
      <p:sp>
        <p:nvSpPr>
          <p:cNvPr id="22" name="Text 20"/>
          <p:cNvSpPr/>
          <p:nvPr/>
        </p:nvSpPr>
        <p:spPr>
          <a:xfrm>
            <a:off x="7269480" y="72420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56465E"/>
                </a:solidFill>
              </a:rPr>
              <a:t>actualización final</a:t>
            </a:r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2743200" y="8709660"/>
            <a:ext cx="1261872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>
                <a:solidFill>
                  <a:srgbClr val="692179"/>
                </a:solidFill>
              </a:rPr>
              <a:t>La latencia visual deja de ser latencia de juego.</a:t>
            </a:r>
            <a:endParaRPr lang="en-US" sz="3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F3EFFF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FF8A3D"/>
                </a:solidFill>
              </a:rPr>
              <a:t>15 · TOPOLOGÍA DE DESARROLLO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FFFFFF"/>
                </a:solidFill>
              </a:rPr>
              <a:t>En local: Aspire hace visibles las conexiones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891540" y="2811780"/>
            <a:ext cx="2811780" cy="2468880"/>
          </a:xfrm>
          <a:prstGeom prst="roundRect">
            <a:avLst>
              <a:gd name="adj" fmla="val 3333"/>
            </a:avLst>
          </a:prstGeom>
          <a:solidFill>
            <a:srgbClr val="2F1767"/>
          </a:solidFill>
          <a:ln w="15240">
            <a:solidFill>
              <a:srgbClr val="8B2BB6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110996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AppHost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110996" y="3607308"/>
            <a:ext cx="237286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orquestación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3744468" y="3744468"/>
            <a:ext cx="384048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1" name="Shape 9"/>
          <p:cNvSpPr/>
          <p:nvPr/>
        </p:nvSpPr>
        <p:spPr>
          <a:xfrm>
            <a:off x="4320540" y="2811780"/>
            <a:ext cx="2811780" cy="2468880"/>
          </a:xfrm>
          <a:prstGeom prst="roundRect">
            <a:avLst>
              <a:gd name="adj" fmla="val 3333"/>
            </a:avLst>
          </a:prstGeom>
          <a:solidFill>
            <a:srgbClr val="2F1767"/>
          </a:solidFill>
          <a:ln w="15240">
            <a:solidFill>
              <a:srgbClr val="55B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4539996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Web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4539996" y="3607308"/>
            <a:ext cx="237286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Blazor</a:t>
            </a:r>
            <a:endParaRPr lang="en-US" sz="1725"/>
          </a:p>
        </p:txBody>
      </p:sp>
      <p:sp>
        <p:nvSpPr>
          <p:cNvPr id="14" name="Shape 12"/>
          <p:cNvSpPr/>
          <p:nvPr/>
        </p:nvSpPr>
        <p:spPr>
          <a:xfrm>
            <a:off x="7173468" y="3744468"/>
            <a:ext cx="384048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5" name="Shape 13"/>
          <p:cNvSpPr/>
          <p:nvPr/>
        </p:nvSpPr>
        <p:spPr>
          <a:xfrm>
            <a:off x="7749540" y="2811780"/>
            <a:ext cx="2811780" cy="2468880"/>
          </a:xfrm>
          <a:prstGeom prst="roundRect">
            <a:avLst>
              <a:gd name="adj" fmla="val 3333"/>
            </a:avLst>
          </a:prstGeom>
          <a:solidFill>
            <a:srgbClr val="2F1767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7968996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PostgreSQL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7968996" y="3607308"/>
            <a:ext cx="237286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estado</a:t>
            </a:r>
            <a:endParaRPr lang="en-US" sz="1725"/>
          </a:p>
        </p:txBody>
      </p:sp>
      <p:sp>
        <p:nvSpPr>
          <p:cNvPr id="18" name="Shape 16"/>
          <p:cNvSpPr/>
          <p:nvPr/>
        </p:nvSpPr>
        <p:spPr>
          <a:xfrm>
            <a:off x="10602468" y="3744468"/>
            <a:ext cx="384048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9" name="Shape 17"/>
          <p:cNvSpPr/>
          <p:nvPr/>
        </p:nvSpPr>
        <p:spPr>
          <a:xfrm>
            <a:off x="11178540" y="2811780"/>
            <a:ext cx="2811780" cy="2468880"/>
          </a:xfrm>
          <a:prstGeom prst="roundRect">
            <a:avLst>
              <a:gd name="adj" fmla="val 3333"/>
            </a:avLst>
          </a:prstGeom>
          <a:solidFill>
            <a:srgbClr val="2F1767"/>
          </a:solidFill>
          <a:ln w="15240">
            <a:solidFill>
              <a:srgbClr val="FF8A3D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20" name="Text 18"/>
          <p:cNvSpPr/>
          <p:nvPr/>
        </p:nvSpPr>
        <p:spPr>
          <a:xfrm>
            <a:off x="11397996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Blob / Azurite</a:t>
            </a:r>
            <a:endParaRPr lang="en-US" sz="2250"/>
          </a:p>
        </p:txBody>
      </p:sp>
      <p:sp>
        <p:nvSpPr>
          <p:cNvPr id="21" name="Text 19"/>
          <p:cNvSpPr/>
          <p:nvPr/>
        </p:nvSpPr>
        <p:spPr>
          <a:xfrm>
            <a:off x="11397996" y="3607308"/>
            <a:ext cx="237286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assets</a:t>
            </a:r>
            <a:endParaRPr lang="en-US" sz="1725"/>
          </a:p>
        </p:txBody>
      </p:sp>
      <p:sp>
        <p:nvSpPr>
          <p:cNvPr id="22" name="Shape 20"/>
          <p:cNvSpPr/>
          <p:nvPr/>
        </p:nvSpPr>
        <p:spPr>
          <a:xfrm>
            <a:off x="14031468" y="3744468"/>
            <a:ext cx="384048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23" name="Shape 21"/>
          <p:cNvSpPr/>
          <p:nvPr/>
        </p:nvSpPr>
        <p:spPr>
          <a:xfrm>
            <a:off x="14607540" y="2811780"/>
            <a:ext cx="2811780" cy="2468880"/>
          </a:xfrm>
          <a:prstGeom prst="roundRect">
            <a:avLst>
              <a:gd name="adj" fmla="val 3333"/>
            </a:avLst>
          </a:prstGeom>
          <a:solidFill>
            <a:srgbClr val="2F1767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24" name="Text 22"/>
          <p:cNvSpPr/>
          <p:nvPr/>
        </p:nvSpPr>
        <p:spPr>
          <a:xfrm>
            <a:off x="14826996" y="3031236"/>
            <a:ext cx="23728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Azure AI</a:t>
            </a:r>
            <a:endParaRPr lang="en-US" sz="2250"/>
          </a:p>
        </p:txBody>
      </p:sp>
      <p:sp>
        <p:nvSpPr>
          <p:cNvPr id="25" name="Text 23"/>
          <p:cNvSpPr/>
          <p:nvPr/>
        </p:nvSpPr>
        <p:spPr>
          <a:xfrm>
            <a:off x="14826996" y="3607308"/>
            <a:ext cx="2372868" cy="14813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modelos</a:t>
            </a:r>
            <a:endParaRPr lang="en-US" sz="1725"/>
          </a:p>
        </p:txBody>
      </p:sp>
      <p:sp>
        <p:nvSpPr>
          <p:cNvPr id="26" name="Text 24"/>
          <p:cNvSpPr/>
          <p:nvPr/>
        </p:nvSpPr>
        <p:spPr>
          <a:xfrm>
            <a:off x="1851660" y="6926580"/>
            <a:ext cx="1453896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>
                <a:solidFill>
                  <a:srgbClr val="FF8A3D"/>
                </a:solidFill>
              </a:rPr>
              <a:t>Dependencias, health checks, logs y trazas en un único entorno local.</a:t>
            </a:r>
            <a:endParaRPr lang="en-US" sz="33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692179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E52D8A"/>
                </a:solidFill>
              </a:rPr>
              <a:t>16 · DESPLIEGUE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24152D"/>
                </a:solidFill>
              </a:rPr>
              <a:t>En Azure: unidad desplegable y workers extraíbles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097280" y="2743200"/>
            <a:ext cx="411480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55B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316736" y="2962656"/>
            <a:ext cx="3675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Azure Container Apps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316736" y="3538728"/>
            <a:ext cx="3675888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Web + módulos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Escalado HTTP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5623560" y="2743200"/>
            <a:ext cx="37033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1" name="Text 9"/>
          <p:cNvSpPr/>
          <p:nvPr/>
        </p:nvSpPr>
        <p:spPr>
          <a:xfrm>
            <a:off x="5843016" y="2962656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Worker visual</a:t>
            </a:r>
            <a:endParaRPr lang="en-US" sz="2250"/>
          </a:p>
        </p:txBody>
      </p:sp>
      <p:sp>
        <p:nvSpPr>
          <p:cNvPr id="12" name="Text 10"/>
          <p:cNvSpPr/>
          <p:nvPr/>
        </p:nvSpPr>
        <p:spPr>
          <a:xfrm>
            <a:off x="5843016" y="3538728"/>
            <a:ext cx="3264408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Procesa cola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Escala por backlog</a:t>
            </a:r>
            <a:endParaRPr lang="en-US" sz="1725"/>
          </a:p>
        </p:txBody>
      </p:sp>
      <p:sp>
        <p:nvSpPr>
          <p:cNvPr id="13" name="Shape 11"/>
          <p:cNvSpPr/>
          <p:nvPr/>
        </p:nvSpPr>
        <p:spPr>
          <a:xfrm>
            <a:off x="9738360" y="2743200"/>
            <a:ext cx="329184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4" name="Text 12"/>
          <p:cNvSpPr/>
          <p:nvPr/>
        </p:nvSpPr>
        <p:spPr>
          <a:xfrm>
            <a:off x="9957816" y="2962656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PostgreSQL</a:t>
            </a:r>
            <a:endParaRPr lang="en-US" sz="2250"/>
          </a:p>
        </p:txBody>
      </p:sp>
      <p:sp>
        <p:nvSpPr>
          <p:cNvPr id="15" name="Text 13"/>
          <p:cNvSpPr/>
          <p:nvPr/>
        </p:nvSpPr>
        <p:spPr>
          <a:xfrm>
            <a:off x="9957816" y="3538728"/>
            <a:ext cx="2852928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Estado autoritativo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Transacciones</a:t>
            </a:r>
            <a:endParaRPr lang="en-US" sz="1725"/>
          </a:p>
        </p:txBody>
      </p:sp>
      <p:sp>
        <p:nvSpPr>
          <p:cNvPr id="16" name="Shape 14"/>
          <p:cNvSpPr/>
          <p:nvPr/>
        </p:nvSpPr>
        <p:spPr>
          <a:xfrm>
            <a:off x="13441680" y="2743200"/>
            <a:ext cx="356616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5240">
            <a:solidFill>
              <a:srgbClr val="FF8A3D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7" name="Text 15"/>
          <p:cNvSpPr/>
          <p:nvPr/>
        </p:nvSpPr>
        <p:spPr>
          <a:xfrm>
            <a:off x="13661136" y="2962656"/>
            <a:ext cx="3127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Blob Storage</a:t>
            </a:r>
            <a:endParaRPr lang="en-US" sz="2250"/>
          </a:p>
        </p:txBody>
      </p:sp>
      <p:sp>
        <p:nvSpPr>
          <p:cNvPr id="18" name="Text 16"/>
          <p:cNvSpPr/>
          <p:nvPr/>
        </p:nvSpPr>
        <p:spPr>
          <a:xfrm>
            <a:off x="13661136" y="3538728"/>
            <a:ext cx="3127248" cy="2029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Assets y caché</a:t>
            </a:r>
            <a:endParaRPr lang="en-US" sz="1725"/>
          </a:p>
          <a:p>
            <a:r>
              <a:rPr lang="en-US" sz="1725">
                <a:solidFill>
                  <a:srgbClr val="56465E"/>
                </a:solidFill>
              </a:rPr>
              <a:t>SceneStateKey</a:t>
            </a:r>
            <a:endParaRPr lang="en-US" sz="1725"/>
          </a:p>
        </p:txBody>
      </p:sp>
      <p:sp>
        <p:nvSpPr>
          <p:cNvPr id="19" name="Text 17"/>
          <p:cNvSpPr/>
          <p:nvPr/>
        </p:nvSpPr>
        <p:spPr>
          <a:xfrm>
            <a:off x="1645920" y="7063740"/>
            <a:ext cx="14950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3150" b="1">
                <a:solidFill>
                  <a:srgbClr val="692179"/>
                </a:solidFill>
              </a:rPr>
              <a:t>Azure AI y Agent Framework quedan detrás de puertos. No gobiernan el estado.</a:t>
            </a:r>
            <a:endParaRPr lang="en-US" sz="31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F3EFFF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FF8A3D"/>
                </a:solidFill>
              </a:rPr>
              <a:t>17 · OPERACIÓN Y RESILIENCIA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FFFFFF"/>
                </a:solidFill>
              </a:rPr>
              <a:t>Observar los bordes, no solo el modelo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028700" y="2674620"/>
            <a:ext cx="3703320" cy="3086100"/>
          </a:xfrm>
          <a:prstGeom prst="roundRect">
            <a:avLst>
              <a:gd name="adj" fmla="val 2667"/>
            </a:avLst>
          </a:prstGeom>
          <a:solidFill>
            <a:srgbClr val="2F1767"/>
          </a:solidFill>
          <a:ln w="15240">
            <a:solidFill>
              <a:srgbClr val="55B7FF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248156" y="2894076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Latencia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248156" y="3470148"/>
            <a:ext cx="3264408" cy="20985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interpretación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turno completo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imagen ready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5184648" y="2674620"/>
            <a:ext cx="3703320" cy="3086100"/>
          </a:xfrm>
          <a:prstGeom prst="roundRect">
            <a:avLst>
              <a:gd name="adj" fmla="val 2667"/>
            </a:avLst>
          </a:prstGeom>
          <a:solidFill>
            <a:srgbClr val="2F1767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1" name="Text 9"/>
          <p:cNvSpPr/>
          <p:nvPr/>
        </p:nvSpPr>
        <p:spPr>
          <a:xfrm>
            <a:off x="5404104" y="2894076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Calidad</a:t>
            </a:r>
            <a:endParaRPr lang="en-US" sz="2250"/>
          </a:p>
        </p:txBody>
      </p:sp>
      <p:sp>
        <p:nvSpPr>
          <p:cNvPr id="12" name="Text 10"/>
          <p:cNvSpPr/>
          <p:nvPr/>
        </p:nvSpPr>
        <p:spPr>
          <a:xfrm>
            <a:off x="5404104" y="3470148"/>
            <a:ext cx="3264408" cy="20985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JSON inválido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intención ambigua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rechazos</a:t>
            </a:r>
            <a:endParaRPr lang="en-US" sz="1725"/>
          </a:p>
        </p:txBody>
      </p:sp>
      <p:sp>
        <p:nvSpPr>
          <p:cNvPr id="13" name="Shape 11"/>
          <p:cNvSpPr/>
          <p:nvPr/>
        </p:nvSpPr>
        <p:spPr>
          <a:xfrm>
            <a:off x="9340596" y="2674620"/>
            <a:ext cx="3703320" cy="3086100"/>
          </a:xfrm>
          <a:prstGeom prst="roundRect">
            <a:avLst>
              <a:gd name="adj" fmla="val 2667"/>
            </a:avLst>
          </a:prstGeom>
          <a:solidFill>
            <a:srgbClr val="2F1767"/>
          </a:solidFill>
          <a:ln w="15240">
            <a:solidFill>
              <a:srgbClr val="FF8A3D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4" name="Text 12"/>
          <p:cNvSpPr/>
          <p:nvPr/>
        </p:nvSpPr>
        <p:spPr>
          <a:xfrm>
            <a:off x="9560052" y="2894076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Fiabilidad</a:t>
            </a:r>
            <a:endParaRPr lang="en-US" sz="2250"/>
          </a:p>
        </p:txBody>
      </p:sp>
      <p:sp>
        <p:nvSpPr>
          <p:cNvPr id="15" name="Text 13"/>
          <p:cNvSpPr/>
          <p:nvPr/>
        </p:nvSpPr>
        <p:spPr>
          <a:xfrm>
            <a:off x="9560052" y="3470148"/>
            <a:ext cx="3264408" cy="20985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timeouts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reintentos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cola / DLQ</a:t>
            </a:r>
            <a:endParaRPr lang="en-US" sz="1725"/>
          </a:p>
        </p:txBody>
      </p:sp>
      <p:sp>
        <p:nvSpPr>
          <p:cNvPr id="16" name="Shape 14"/>
          <p:cNvSpPr/>
          <p:nvPr/>
        </p:nvSpPr>
        <p:spPr>
          <a:xfrm>
            <a:off x="13496544" y="2674620"/>
            <a:ext cx="3703320" cy="3086100"/>
          </a:xfrm>
          <a:prstGeom prst="roundRect">
            <a:avLst>
              <a:gd name="adj" fmla="val 2667"/>
            </a:avLst>
          </a:prstGeom>
          <a:solidFill>
            <a:srgbClr val="2F1767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7" name="Text 15"/>
          <p:cNvSpPr/>
          <p:nvPr/>
        </p:nvSpPr>
        <p:spPr>
          <a:xfrm>
            <a:off x="13716000" y="2894076"/>
            <a:ext cx="3264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FFFF"/>
                </a:solidFill>
              </a:rPr>
              <a:t>Consistencia</a:t>
            </a:r>
            <a:endParaRPr lang="en-US" sz="2250"/>
          </a:p>
        </p:txBody>
      </p:sp>
      <p:sp>
        <p:nvSpPr>
          <p:cNvPr id="18" name="Text 16"/>
          <p:cNvSpPr/>
          <p:nvPr/>
        </p:nvSpPr>
        <p:spPr>
          <a:xfrm>
            <a:off x="13716000" y="3470148"/>
            <a:ext cx="3264408" cy="20985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F3EFFF"/>
                </a:solidFill>
              </a:rPr>
              <a:t>conflictos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idempotencia</a:t>
            </a:r>
            <a:endParaRPr lang="en-US" sz="1725"/>
          </a:p>
          <a:p>
            <a:r>
              <a:rPr lang="en-US" sz="1725">
                <a:solidFill>
                  <a:srgbClr val="F3EFFF"/>
                </a:solidFill>
              </a:rPr>
              <a:t>rollback</a:t>
            </a:r>
            <a:endParaRPr lang="en-US" sz="1725"/>
          </a:p>
        </p:txBody>
      </p:sp>
      <p:sp>
        <p:nvSpPr>
          <p:cNvPr id="19" name="Text 17"/>
          <p:cNvSpPr/>
          <p:nvPr/>
        </p:nvSpPr>
        <p:spPr>
          <a:xfrm>
            <a:off x="1508760" y="7132320"/>
            <a:ext cx="1522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>
                <a:solidFill>
                  <a:srgbClr val="FF8A3D"/>
                </a:solidFill>
              </a:rPr>
              <a:t>Fallback útil &gt; error espectacular: el turno debe poder cerrarse sin IA.</a:t>
            </a:r>
            <a:endParaRPr lang="en-US" sz="3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A2F7B-5A43-8C85-0673-C05278B23072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cce5a755b7.png">
            <a:extLst>
              <a:ext uri="{FF2B5EF4-FFF2-40B4-BE49-F238E27FC236}">
                <a16:creationId xmlns:a16="http://schemas.microsoft.com/office/drawing/2014/main" id="{19291234-9ABD-D1E1-30B2-E571E981A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8287543" cy="10287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D1F8E1E-9BAC-1C93-F23B-ABF229A9C01E}"/>
              </a:ext>
            </a:extLst>
          </p:cNvPr>
          <p:cNvSpPr/>
          <p:nvPr/>
        </p:nvSpPr>
        <p:spPr>
          <a:xfrm>
            <a:off x="0" y="91440"/>
            <a:ext cx="18287543" cy="10287000"/>
          </a:xfrm>
          <a:prstGeom prst="rect">
            <a:avLst/>
          </a:prstGeom>
          <a:solidFill>
            <a:srgbClr val="17072E">
              <a:alpha val="68000"/>
            </a:srgbClr>
          </a:solidFill>
          <a:ln w="12700">
            <a:solidFill>
              <a:srgbClr val="17072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FD7A17A-2B39-4AFB-92C4-51B360E7288C}"/>
              </a:ext>
            </a:extLst>
          </p:cNvPr>
          <p:cNvGrpSpPr/>
          <p:nvPr/>
        </p:nvGrpSpPr>
        <p:grpSpPr>
          <a:xfrm>
            <a:off x="0" y="2644902"/>
            <a:ext cx="7827264" cy="4741164"/>
            <a:chOff x="914400" y="818388"/>
            <a:chExt cx="7827264" cy="4741164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802E2F2-9F66-6D1F-5631-82B78D7ADC15}"/>
                </a:ext>
              </a:extLst>
            </p:cNvPr>
            <p:cNvSpPr/>
            <p:nvPr/>
          </p:nvSpPr>
          <p:spPr>
            <a:xfrm>
              <a:off x="914400" y="818388"/>
              <a:ext cx="7827264" cy="4741164"/>
            </a:xfrm>
            <a:prstGeom prst="rect">
              <a:avLst/>
            </a:prstGeom>
            <a:solidFill>
              <a:srgbClr val="17072E">
                <a:alpha val="86000"/>
              </a:srgbClr>
            </a:solidFill>
            <a:ln w="12700">
              <a:solidFill>
                <a:srgbClr val="FFFFFF">
                  <a:alpha val="20000"/>
                </a:srgbClr>
              </a:solidFill>
              <a:prstDash val="solid"/>
            </a:ln>
          </p:spPr>
          <p:txBody>
            <a:bodyPr/>
            <a:lstStyle/>
            <a:p>
              <a:endParaRPr lang="es-ES" sz="2100"/>
            </a:p>
          </p:txBody>
        </p:sp>
        <p:sp>
          <p:nvSpPr>
            <p:cNvPr id="5" name="Text 2">
              <a:extLst>
                <a:ext uri="{FF2B5EF4-FFF2-40B4-BE49-F238E27FC236}">
                  <a16:creationId xmlns:a16="http://schemas.microsoft.com/office/drawing/2014/main" id="{493C66F1-20FF-221B-2DA0-3FBB17CF5FA5}"/>
                </a:ext>
              </a:extLst>
            </p:cNvPr>
            <p:cNvSpPr/>
            <p:nvPr/>
          </p:nvSpPr>
          <p:spPr>
            <a:xfrm>
              <a:off x="1371600" y="1508760"/>
              <a:ext cx="7114032" cy="7955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4200" b="1">
                  <a:solidFill>
                    <a:srgbClr val="FF8A3D"/>
                  </a:solidFill>
                </a:rPr>
                <a:t>BONUS TRACK</a:t>
              </a:r>
              <a:endParaRPr lang="en-US" sz="4200"/>
            </a:p>
          </p:txBody>
        </p:sp>
        <p:sp>
          <p:nvSpPr>
            <p:cNvPr id="6" name="Text 3">
              <a:extLst>
                <a:ext uri="{FF2B5EF4-FFF2-40B4-BE49-F238E27FC236}">
                  <a16:creationId xmlns:a16="http://schemas.microsoft.com/office/drawing/2014/main" id="{A36EAD3F-357B-7946-92FA-43B12DF2EB8F}"/>
                </a:ext>
              </a:extLst>
            </p:cNvPr>
            <p:cNvSpPr/>
            <p:nvPr/>
          </p:nvSpPr>
          <p:spPr>
            <a:xfrm>
              <a:off x="1371600" y="2496312"/>
              <a:ext cx="7114032" cy="2125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endParaRPr lang="en-US" sz="4650" b="1"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6508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692179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CBBFD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E52D8A"/>
                </a:solidFill>
              </a:rPr>
              <a:t>ANEXO A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24152D"/>
                </a:solidFill>
              </a:rPr>
              <a:t>Reserva: autoría asistida, publicación controlada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165860" y="2811780"/>
            <a:ext cx="4389120" cy="32232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E52D8A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385316" y="3031236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Propuesta IA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1385316" y="3607308"/>
            <a:ext cx="3950208" cy="22357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Habitaciones, personajes, pistas y texto</a:t>
            </a:r>
            <a:endParaRPr lang="en-US" sz="1725"/>
          </a:p>
        </p:txBody>
      </p:sp>
      <p:sp>
        <p:nvSpPr>
          <p:cNvPr id="10" name="Shape 8"/>
          <p:cNvSpPr/>
          <p:nvPr/>
        </p:nvSpPr>
        <p:spPr>
          <a:xfrm>
            <a:off x="5966460" y="3977640"/>
            <a:ext cx="576072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1" name="Shape 9"/>
          <p:cNvSpPr/>
          <p:nvPr/>
        </p:nvSpPr>
        <p:spPr>
          <a:xfrm>
            <a:off x="6926580" y="2811780"/>
            <a:ext cx="4389120" cy="32232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55D98C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7146036" y="3031236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Validadores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7146036" y="3607308"/>
            <a:ext cx="3950208" cy="22357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IDs, referencias, topología y soluciones</a:t>
            </a:r>
            <a:endParaRPr lang="en-US" sz="1725"/>
          </a:p>
        </p:txBody>
      </p:sp>
      <p:sp>
        <p:nvSpPr>
          <p:cNvPr id="14" name="Shape 12"/>
          <p:cNvSpPr/>
          <p:nvPr/>
        </p:nvSpPr>
        <p:spPr>
          <a:xfrm>
            <a:off x="11727180" y="3977640"/>
            <a:ext cx="576072" cy="617220"/>
          </a:xfrm>
          <a:prstGeom prst="chevron">
            <a:avLst/>
          </a:prstGeom>
          <a:solidFill>
            <a:srgbClr val="FF8A3D"/>
          </a:solidFill>
          <a:ln w="12700">
            <a:solidFill>
              <a:srgbClr val="FF8A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5" name="Shape 13"/>
          <p:cNvSpPr/>
          <p:nvPr/>
        </p:nvSpPr>
        <p:spPr>
          <a:xfrm>
            <a:off x="12687300" y="2811780"/>
            <a:ext cx="4389120" cy="322326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240">
            <a:solidFill>
              <a:srgbClr val="8B2BB6"/>
            </a:solidFill>
            <a:prstDash val="solid"/>
          </a:ln>
          <a:effectLst>
            <a:outerShdw blurRad="127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12906756" y="3031236"/>
            <a:ext cx="3950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24152D"/>
                </a:solidFill>
              </a:rPr>
              <a:t>Revisión humana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12906756" y="3607308"/>
            <a:ext cx="3950208" cy="22357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725">
                <a:solidFill>
                  <a:srgbClr val="56465E"/>
                </a:solidFill>
              </a:rPr>
              <a:t>Draft → revisión → publicación versionada</a:t>
            </a:r>
            <a:endParaRPr lang="en-US" sz="1725"/>
          </a:p>
        </p:txBody>
      </p:sp>
      <p:sp>
        <p:nvSpPr>
          <p:cNvPr id="18" name="Text 16"/>
          <p:cNvSpPr/>
          <p:nvPr/>
        </p:nvSpPr>
        <p:spPr>
          <a:xfrm>
            <a:off x="2125980" y="7338060"/>
            <a:ext cx="1399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300" b="1">
                <a:solidFill>
                  <a:srgbClr val="692179"/>
                </a:solidFill>
              </a:rPr>
              <a:t>La IA propone. Nunca publica una aventura por sí sola.</a:t>
            </a:r>
            <a:endParaRPr lang="en-US" sz="33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14470380" y="24688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50">
                <a:solidFill>
                  <a:srgbClr val="F3EFFF"/>
                </a:solidFill>
              </a:rPr>
              <a:t>‹NetCoreConf/›  Madrid ’26</a:t>
            </a:r>
            <a:endParaRPr lang="en-US" sz="1350"/>
          </a:p>
        </p:txBody>
      </p:sp>
      <p:sp>
        <p:nvSpPr>
          <p:cNvPr id="3" name="Shape 1"/>
          <p:cNvSpPr/>
          <p:nvPr/>
        </p:nvSpPr>
        <p:spPr>
          <a:xfrm>
            <a:off x="987552" y="658369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4" name="Shape 2"/>
          <p:cNvSpPr/>
          <p:nvPr/>
        </p:nvSpPr>
        <p:spPr>
          <a:xfrm>
            <a:off x="987552" y="9669781"/>
            <a:ext cx="16267176" cy="2"/>
          </a:xfrm>
          <a:prstGeom prst="line">
            <a:avLst/>
          </a:prstGeom>
          <a:noFill/>
          <a:ln w="1270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5" name="Text 3"/>
          <p:cNvSpPr/>
          <p:nvPr/>
        </p:nvSpPr>
        <p:spPr>
          <a:xfrm>
            <a:off x="1069848" y="987552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spc="180">
                <a:solidFill>
                  <a:srgbClr val="FF8A3D"/>
                </a:solidFill>
              </a:rPr>
              <a:t>ANEXO B</a:t>
            </a:r>
            <a:endParaRPr lang="en-US" sz="1650"/>
          </a:p>
        </p:txBody>
      </p:sp>
      <p:sp>
        <p:nvSpPr>
          <p:cNvPr id="6" name="Text 4"/>
          <p:cNvSpPr/>
          <p:nvPr/>
        </p:nvSpPr>
        <p:spPr>
          <a:xfrm>
            <a:off x="1069848" y="1481328"/>
            <a:ext cx="1591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00" b="1">
                <a:solidFill>
                  <a:srgbClr val="FFFFFF"/>
                </a:solidFill>
              </a:rPr>
              <a:t>Reserva: degradación controlada</a:t>
            </a:r>
            <a:endParaRPr lang="en-US" sz="4200"/>
          </a:p>
        </p:txBody>
      </p:sp>
      <p:sp>
        <p:nvSpPr>
          <p:cNvPr id="7" name="Shape 5"/>
          <p:cNvSpPr/>
          <p:nvPr/>
        </p:nvSpPr>
        <p:spPr>
          <a:xfrm>
            <a:off x="1165860" y="2263140"/>
            <a:ext cx="15979140" cy="1124712"/>
          </a:xfrm>
          <a:prstGeom prst="roundRect">
            <a:avLst>
              <a:gd name="adj" fmla="val 6098"/>
            </a:avLst>
          </a:prstGeom>
          <a:solidFill>
            <a:srgbClr val="25104F"/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8" name="Text 6"/>
          <p:cNvSpPr/>
          <p:nvPr/>
        </p:nvSpPr>
        <p:spPr>
          <a:xfrm>
            <a:off x="1508760" y="25374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5E78"/>
                </a:solidFill>
              </a:rPr>
              <a:t>Intérprete no responde</a:t>
            </a:r>
            <a:endParaRPr lang="en-US" sz="2250"/>
          </a:p>
        </p:txBody>
      </p:sp>
      <p:sp>
        <p:nvSpPr>
          <p:cNvPr id="9" name="Text 7"/>
          <p:cNvSpPr/>
          <p:nvPr/>
        </p:nvSpPr>
        <p:spPr>
          <a:xfrm>
            <a:off x="5280660" y="253746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>
                <a:solidFill>
                  <a:srgbClr val="F3EFFF"/>
                </a:solidFill>
              </a:rPr>
              <a:t>parser básico / comandos clásicos</a:t>
            </a:r>
            <a:endParaRPr lang="en-US" sz="2250"/>
          </a:p>
        </p:txBody>
      </p:sp>
      <p:sp>
        <p:nvSpPr>
          <p:cNvPr id="10" name="Text 8"/>
          <p:cNvSpPr/>
          <p:nvPr/>
        </p:nvSpPr>
        <p:spPr>
          <a:xfrm>
            <a:off x="11315700" y="253746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55D98C"/>
                </a:solidFill>
              </a:rPr>
              <a:t>el turno continúa</a:t>
            </a:r>
            <a:endParaRPr lang="en-US" sz="2250"/>
          </a:p>
        </p:txBody>
      </p:sp>
      <p:sp>
        <p:nvSpPr>
          <p:cNvPr id="11" name="Shape 9"/>
          <p:cNvSpPr/>
          <p:nvPr/>
        </p:nvSpPr>
        <p:spPr>
          <a:xfrm>
            <a:off x="1165860" y="3744468"/>
            <a:ext cx="15979140" cy="1124712"/>
          </a:xfrm>
          <a:prstGeom prst="roundRect">
            <a:avLst>
              <a:gd name="adj" fmla="val 6098"/>
            </a:avLst>
          </a:prstGeom>
          <a:solidFill>
            <a:srgbClr val="31156A"/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2" name="Text 10"/>
          <p:cNvSpPr/>
          <p:nvPr/>
        </p:nvSpPr>
        <p:spPr>
          <a:xfrm>
            <a:off x="1508760" y="40187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5E78"/>
                </a:solidFill>
              </a:rPr>
              <a:t>Narrador falla</a:t>
            </a:r>
            <a:endParaRPr lang="en-US" sz="2250"/>
          </a:p>
        </p:txBody>
      </p:sp>
      <p:sp>
        <p:nvSpPr>
          <p:cNvPr id="13" name="Text 11"/>
          <p:cNvSpPr/>
          <p:nvPr/>
        </p:nvSpPr>
        <p:spPr>
          <a:xfrm>
            <a:off x="5280660" y="4018788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>
                <a:solidFill>
                  <a:srgbClr val="F3EFFF"/>
                </a:solidFill>
              </a:rPr>
              <a:t>mensaje factual determinista</a:t>
            </a:r>
            <a:endParaRPr lang="en-US" sz="2250"/>
          </a:p>
        </p:txBody>
      </p:sp>
      <p:sp>
        <p:nvSpPr>
          <p:cNvPr id="14" name="Text 12"/>
          <p:cNvSpPr/>
          <p:nvPr/>
        </p:nvSpPr>
        <p:spPr>
          <a:xfrm>
            <a:off x="11315700" y="4018788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55D98C"/>
                </a:solidFill>
              </a:rPr>
              <a:t>estado confirmado</a:t>
            </a:r>
            <a:endParaRPr lang="en-US" sz="2250"/>
          </a:p>
        </p:txBody>
      </p:sp>
      <p:sp>
        <p:nvSpPr>
          <p:cNvPr id="15" name="Shape 13"/>
          <p:cNvSpPr/>
          <p:nvPr/>
        </p:nvSpPr>
        <p:spPr>
          <a:xfrm>
            <a:off x="1165860" y="5225796"/>
            <a:ext cx="15979140" cy="1124712"/>
          </a:xfrm>
          <a:prstGeom prst="roundRect">
            <a:avLst>
              <a:gd name="adj" fmla="val 6098"/>
            </a:avLst>
          </a:prstGeom>
          <a:solidFill>
            <a:srgbClr val="25104F"/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16" name="Text 14"/>
          <p:cNvSpPr/>
          <p:nvPr/>
        </p:nvSpPr>
        <p:spPr>
          <a:xfrm>
            <a:off x="1508760" y="550011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5E78"/>
                </a:solidFill>
              </a:rPr>
              <a:t>Imagen falla</a:t>
            </a:r>
            <a:endParaRPr lang="en-US" sz="2250"/>
          </a:p>
        </p:txBody>
      </p:sp>
      <p:sp>
        <p:nvSpPr>
          <p:cNvPr id="17" name="Text 15"/>
          <p:cNvSpPr/>
          <p:nvPr/>
        </p:nvSpPr>
        <p:spPr>
          <a:xfrm>
            <a:off x="5280660" y="5500116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>
                <a:solidFill>
                  <a:srgbClr val="F3EFFF"/>
                </a:solidFill>
              </a:rPr>
              <a:t>placeholder + telemetría</a:t>
            </a:r>
            <a:endParaRPr lang="en-US" sz="2250"/>
          </a:p>
        </p:txBody>
      </p:sp>
      <p:sp>
        <p:nvSpPr>
          <p:cNvPr id="18" name="Text 16"/>
          <p:cNvSpPr/>
          <p:nvPr/>
        </p:nvSpPr>
        <p:spPr>
          <a:xfrm>
            <a:off x="11315700" y="5500116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55D98C"/>
                </a:solidFill>
              </a:rPr>
              <a:t>partida no bloqueada</a:t>
            </a:r>
            <a:endParaRPr lang="en-US" sz="2250"/>
          </a:p>
        </p:txBody>
      </p:sp>
      <p:sp>
        <p:nvSpPr>
          <p:cNvPr id="19" name="Shape 17"/>
          <p:cNvSpPr/>
          <p:nvPr/>
        </p:nvSpPr>
        <p:spPr>
          <a:xfrm>
            <a:off x="1165860" y="6707124"/>
            <a:ext cx="15979140" cy="1124712"/>
          </a:xfrm>
          <a:prstGeom prst="roundRect">
            <a:avLst>
              <a:gd name="adj" fmla="val 6098"/>
            </a:avLst>
          </a:prstGeom>
          <a:solidFill>
            <a:srgbClr val="31156A"/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s-ES" sz="2100"/>
          </a:p>
        </p:txBody>
      </p:sp>
      <p:sp>
        <p:nvSpPr>
          <p:cNvPr id="20" name="Text 18"/>
          <p:cNvSpPr/>
          <p:nvPr/>
        </p:nvSpPr>
        <p:spPr>
          <a:xfrm>
            <a:off x="1508760" y="69814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FF5E78"/>
                </a:solidFill>
              </a:rPr>
              <a:t>Conflicto de versión</a:t>
            </a:r>
            <a:endParaRPr lang="en-US" sz="2250"/>
          </a:p>
        </p:txBody>
      </p:sp>
      <p:sp>
        <p:nvSpPr>
          <p:cNvPr id="21" name="Text 19"/>
          <p:cNvSpPr/>
          <p:nvPr/>
        </p:nvSpPr>
        <p:spPr>
          <a:xfrm>
            <a:off x="5280660" y="6981444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>
                <a:solidFill>
                  <a:srgbClr val="F3EFFF"/>
                </a:solidFill>
              </a:rPr>
              <a:t>recargar + reintento seguro</a:t>
            </a:r>
            <a:endParaRPr lang="en-US" sz="2250"/>
          </a:p>
        </p:txBody>
      </p:sp>
      <p:sp>
        <p:nvSpPr>
          <p:cNvPr id="22" name="Text 20"/>
          <p:cNvSpPr/>
          <p:nvPr/>
        </p:nvSpPr>
        <p:spPr>
          <a:xfrm>
            <a:off x="11315700" y="698144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>
                <a:solidFill>
                  <a:srgbClr val="55D98C"/>
                </a:solidFill>
              </a:rPr>
              <a:t>sin pérdida silenciosa</a:t>
            </a:r>
            <a:endParaRPr lang="en-US" sz="2250"/>
          </a:p>
        </p:txBody>
      </p:sp>
      <p:sp>
        <p:nvSpPr>
          <p:cNvPr id="23" name="Text 21"/>
          <p:cNvSpPr/>
          <p:nvPr/>
        </p:nvSpPr>
        <p:spPr>
          <a:xfrm>
            <a:off x="1851660" y="8572500"/>
            <a:ext cx="145389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>
                <a:solidFill>
                  <a:srgbClr val="FF8A3D"/>
                </a:solidFill>
              </a:rPr>
              <a:t>La pregunta no es “¿respondió el modelo?”, sino “¿siguió siendo correcto el sistema?”.</a:t>
            </a:r>
            <a:endParaRPr lang="en-US" sz="3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90644741bd3d990_0_5"/>
          <p:cNvSpPr/>
          <p:nvPr/>
        </p:nvSpPr>
        <p:spPr>
          <a:xfrm rot="-9506279">
            <a:off x="8423882" y="-4244697"/>
            <a:ext cx="10764039" cy="10544272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h190644741bd3d990_0_5"/>
          <p:cNvSpPr/>
          <p:nvPr/>
        </p:nvSpPr>
        <p:spPr>
          <a:xfrm>
            <a:off x="-3925495" y="5622260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h190644741bd3d990_0_5"/>
          <p:cNvSpPr/>
          <p:nvPr/>
        </p:nvSpPr>
        <p:spPr>
          <a:xfrm rot="4416143" flipH="1">
            <a:off x="10755892" y="1561137"/>
            <a:ext cx="11749913" cy="8767446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80" t="-20401" r="-364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190644741bd3d990_0_5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0" r="-1108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h190644741bd3d990_0_5"/>
          <p:cNvCxnSpPr/>
          <p:nvPr/>
        </p:nvCxnSpPr>
        <p:spPr>
          <a:xfrm>
            <a:off x="700612" y="1472360"/>
            <a:ext cx="12385500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53" name="Google Shape;153;h190644741bd3d990_0_5"/>
          <p:cNvGrpSpPr/>
          <p:nvPr/>
        </p:nvGrpSpPr>
        <p:grpSpPr>
          <a:xfrm>
            <a:off x="12986370" y="762000"/>
            <a:ext cx="4601018" cy="1420720"/>
            <a:chOff x="0" y="0"/>
            <a:chExt cx="6134691" cy="1894293"/>
          </a:xfrm>
        </p:grpSpPr>
        <p:sp>
          <p:nvSpPr>
            <p:cNvPr id="154" name="Google Shape;154;h190644741bd3d990_0_5"/>
            <p:cNvSpPr/>
            <p:nvPr/>
          </p:nvSpPr>
          <p:spPr>
            <a:xfrm>
              <a:off x="4489064" y="0"/>
              <a:ext cx="1645627" cy="1894293"/>
            </a:xfrm>
            <a:custGeom>
              <a:avLst/>
              <a:gdLst/>
              <a:ahLst/>
              <a:cxnLst/>
              <a:rect l="l" t="t" r="r" b="b"/>
              <a:pathLst>
                <a:path w="1645627" h="1894293" extrusionOk="0">
                  <a:moveTo>
                    <a:pt x="0" y="0"/>
                  </a:moveTo>
                  <a:lnTo>
                    <a:pt x="1645627" y="0"/>
                  </a:lnTo>
                  <a:lnTo>
                    <a:pt x="1645627" y="1894293"/>
                  </a:lnTo>
                  <a:lnTo>
                    <a:pt x="0" y="1894293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 l="-720" r="-720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h190644741bd3d990_0_5"/>
            <p:cNvSpPr txBox="1"/>
            <p:nvPr/>
          </p:nvSpPr>
          <p:spPr>
            <a:xfrm>
              <a:off x="240525" y="588852"/>
              <a:ext cx="3971100" cy="58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2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53"/>
                <a:buFont typeface="Arial"/>
                <a:buNone/>
              </a:pPr>
              <a:r>
                <a:rPr lang="en-US" sz="2853" b="1" i="0" u="none" strike="noStrike" cap="none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&lt;NetCoreConf/&gt;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h190644741bd3d990_0_5"/>
            <p:cNvSpPr txBox="1"/>
            <p:nvPr/>
          </p:nvSpPr>
          <p:spPr>
            <a:xfrm>
              <a:off x="0" y="1364955"/>
              <a:ext cx="3971100" cy="47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333"/>
                <a:buFont typeface="Arial"/>
                <a:buNone/>
              </a:pPr>
              <a:r>
                <a:rPr lang="en-US" sz="2333" b="0" i="0" u="none" strike="noStrike" cap="none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Madrid ‘2</a:t>
              </a:r>
              <a:r>
                <a:rPr lang="en-US" sz="2333">
                  <a:solidFill>
                    <a:srgbClr val="D9D9D9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" name="Google Shape;157;h190644741bd3d990_0_5"/>
          <p:cNvSpPr txBox="1"/>
          <p:nvPr/>
        </p:nvSpPr>
        <p:spPr>
          <a:xfrm>
            <a:off x="759956" y="817946"/>
            <a:ext cx="2926200" cy="4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lang="en-US" sz="3059" b="0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Sponsors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h190644741bd3d990_0_5"/>
          <p:cNvCxnSpPr/>
          <p:nvPr/>
        </p:nvCxnSpPr>
        <p:spPr>
          <a:xfrm rot="10800000" flipH="1">
            <a:off x="700612" y="2913308"/>
            <a:ext cx="16705500" cy="57900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h190644741bd3d990_0_5"/>
          <p:cNvSpPr/>
          <p:nvPr/>
        </p:nvSpPr>
        <p:spPr>
          <a:xfrm>
            <a:off x="6330506" y="2793173"/>
            <a:ext cx="5187834" cy="2511131"/>
          </a:xfrm>
          <a:custGeom>
            <a:avLst/>
            <a:gdLst/>
            <a:ahLst/>
            <a:cxnLst/>
            <a:rect l="l" t="t" r="r" b="b"/>
            <a:pathLst>
              <a:path w="2006899" h="971424" extrusionOk="0">
                <a:moveTo>
                  <a:pt x="0" y="0"/>
                </a:moveTo>
                <a:lnTo>
                  <a:pt x="2006899" y="0"/>
                </a:lnTo>
                <a:lnTo>
                  <a:pt x="2006899" y="971425"/>
                </a:lnTo>
                <a:lnTo>
                  <a:pt x="0" y="971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l="-8130" t="-34331" r="-9320" b="-36641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190644741bd3d990_0_5"/>
          <p:cNvSpPr/>
          <p:nvPr/>
        </p:nvSpPr>
        <p:spPr>
          <a:xfrm>
            <a:off x="1714375" y="6351574"/>
            <a:ext cx="5897282" cy="664785"/>
          </a:xfrm>
          <a:custGeom>
            <a:avLst/>
            <a:gdLst/>
            <a:ahLst/>
            <a:cxnLst/>
            <a:rect l="l" t="t" r="r" b="b"/>
            <a:pathLst>
              <a:path w="1983947" h="223645" extrusionOk="0">
                <a:moveTo>
                  <a:pt x="0" y="0"/>
                </a:moveTo>
                <a:lnTo>
                  <a:pt x="1983947" y="0"/>
                </a:lnTo>
                <a:lnTo>
                  <a:pt x="1983947" y="223645"/>
                </a:lnTo>
                <a:lnTo>
                  <a:pt x="0" y="223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190644741bd3d990_0_5"/>
          <p:cNvSpPr/>
          <p:nvPr/>
        </p:nvSpPr>
        <p:spPr>
          <a:xfrm>
            <a:off x="1765427" y="8980626"/>
            <a:ext cx="2110682" cy="628868"/>
          </a:xfrm>
          <a:custGeom>
            <a:avLst/>
            <a:gdLst/>
            <a:ahLst/>
            <a:cxnLst/>
            <a:rect l="l" t="t" r="r" b="b"/>
            <a:pathLst>
              <a:path w="1147110" h="341776" extrusionOk="0">
                <a:moveTo>
                  <a:pt x="0" y="0"/>
                </a:moveTo>
                <a:lnTo>
                  <a:pt x="1147110" y="0"/>
                </a:lnTo>
                <a:lnTo>
                  <a:pt x="1147110" y="341776"/>
                </a:lnTo>
                <a:lnTo>
                  <a:pt x="0" y="341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h190644741bd3d990_0_5"/>
          <p:cNvCxnSpPr/>
          <p:nvPr/>
        </p:nvCxnSpPr>
        <p:spPr>
          <a:xfrm>
            <a:off x="700612" y="8579914"/>
            <a:ext cx="16705500" cy="28500"/>
          </a:xfrm>
          <a:prstGeom prst="straightConnector1">
            <a:avLst/>
          </a:prstGeom>
          <a:noFill/>
          <a:ln w="19050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3" name="Google Shape;163;h190644741bd3d990_0_5"/>
          <p:cNvSpPr/>
          <p:nvPr/>
        </p:nvSpPr>
        <p:spPr>
          <a:xfrm>
            <a:off x="13424262" y="8952019"/>
            <a:ext cx="3588657" cy="657463"/>
          </a:xfrm>
          <a:custGeom>
            <a:avLst/>
            <a:gdLst/>
            <a:ahLst/>
            <a:cxnLst/>
            <a:rect l="l" t="t" r="r" b="b"/>
            <a:pathLst>
              <a:path w="1950357" h="357317" extrusionOk="0">
                <a:moveTo>
                  <a:pt x="0" y="0"/>
                </a:moveTo>
                <a:lnTo>
                  <a:pt x="1950357" y="0"/>
                </a:lnTo>
                <a:lnTo>
                  <a:pt x="1950357" y="357317"/>
                </a:lnTo>
                <a:lnTo>
                  <a:pt x="0" y="357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190644741bd3d990_0_5"/>
          <p:cNvSpPr/>
          <p:nvPr/>
        </p:nvSpPr>
        <p:spPr>
          <a:xfrm>
            <a:off x="11413379" y="3456618"/>
            <a:ext cx="7102491" cy="1769705"/>
          </a:xfrm>
          <a:custGeom>
            <a:avLst/>
            <a:gdLst/>
            <a:ahLst/>
            <a:cxnLst/>
            <a:rect l="l" t="t" r="r" b="b"/>
            <a:pathLst>
              <a:path w="2582724" h="643529" extrusionOk="0">
                <a:moveTo>
                  <a:pt x="0" y="0"/>
                </a:moveTo>
                <a:lnTo>
                  <a:pt x="2582724" y="0"/>
                </a:lnTo>
                <a:lnTo>
                  <a:pt x="2582724" y="643529"/>
                </a:lnTo>
                <a:lnTo>
                  <a:pt x="0" y="643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190644741bd3d990_0_5"/>
          <p:cNvSpPr/>
          <p:nvPr/>
        </p:nvSpPr>
        <p:spPr>
          <a:xfrm>
            <a:off x="881912" y="3428990"/>
            <a:ext cx="5141475" cy="1466124"/>
          </a:xfrm>
          <a:custGeom>
            <a:avLst/>
            <a:gdLst/>
            <a:ahLst/>
            <a:cxnLst/>
            <a:rect l="l" t="t" r="r" b="b"/>
            <a:pathLst>
              <a:path w="1988965" h="567166" extrusionOk="0">
                <a:moveTo>
                  <a:pt x="0" y="0"/>
                </a:moveTo>
                <a:lnTo>
                  <a:pt x="1988965" y="0"/>
                </a:lnTo>
                <a:lnTo>
                  <a:pt x="1988965" y="567166"/>
                </a:lnTo>
                <a:lnTo>
                  <a:pt x="0" y="5671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190644741bd3d990_0_5"/>
          <p:cNvSpPr txBox="1"/>
          <p:nvPr/>
        </p:nvSpPr>
        <p:spPr>
          <a:xfrm>
            <a:off x="881895" y="2315439"/>
            <a:ext cx="644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Platinum sponsors</a:t>
            </a:r>
            <a:endParaRPr/>
          </a:p>
        </p:txBody>
      </p:sp>
      <p:sp>
        <p:nvSpPr>
          <p:cNvPr id="167" name="Google Shape;167;h190644741bd3d990_0_5"/>
          <p:cNvSpPr txBox="1"/>
          <p:nvPr/>
        </p:nvSpPr>
        <p:spPr>
          <a:xfrm>
            <a:off x="881895" y="7915477"/>
            <a:ext cx="644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Gold sponsors</a:t>
            </a:r>
            <a:endParaRPr/>
          </a:p>
        </p:txBody>
      </p:sp>
      <p:sp>
        <p:nvSpPr>
          <p:cNvPr id="168" name="Google Shape;168;h190644741bd3d990_0_5"/>
          <p:cNvSpPr txBox="1"/>
          <p:nvPr/>
        </p:nvSpPr>
        <p:spPr>
          <a:xfrm>
            <a:off x="10009993" y="7915477"/>
            <a:ext cx="64497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D9D9D9"/>
                </a:solidFill>
                <a:latin typeface="Open Sans"/>
                <a:ea typeface="Open Sans"/>
                <a:cs typeface="Open Sans"/>
                <a:sym typeface="Open Sans"/>
              </a:rPr>
              <a:t>Colabora</a:t>
            </a:r>
            <a:endParaRPr sz="2200" b="0" i="0" u="none" strike="noStrike" cap="none">
              <a:solidFill>
                <a:srgbClr val="D9D9D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h190644741bd3d990_0_5"/>
          <p:cNvSpPr/>
          <p:nvPr/>
        </p:nvSpPr>
        <p:spPr>
          <a:xfrm>
            <a:off x="4264196" y="8063619"/>
            <a:ext cx="2461900" cy="2461900"/>
          </a:xfrm>
          <a:custGeom>
            <a:avLst/>
            <a:gdLst/>
            <a:ahLst/>
            <a:cxnLst/>
            <a:rect l="l" t="t" r="r" b="b"/>
            <a:pathLst>
              <a:path w="1404793" h="1404793" extrusionOk="0">
                <a:moveTo>
                  <a:pt x="0" y="0"/>
                </a:moveTo>
                <a:lnTo>
                  <a:pt x="1404793" y="0"/>
                </a:lnTo>
                <a:lnTo>
                  <a:pt x="1404793" y="1404793"/>
                </a:lnTo>
                <a:lnTo>
                  <a:pt x="0" y="1404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0" name="Google Shape;170;h190644741bd3d990_0_5" title="v-valley-blanco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567715" y="5830225"/>
            <a:ext cx="6838385" cy="15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h190644741bd3d990_0_5" title="scrm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6902329" y="8816575"/>
            <a:ext cx="3067771" cy="9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0000"/>
            </a:gs>
            <a:gs pos="100000">
              <a:srgbClr val="3533CD"/>
            </a:gs>
          </a:gsLst>
          <a:lin ang="0" scaled="0"/>
        </a:gra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"/>
          <p:cNvSpPr/>
          <p:nvPr/>
        </p:nvSpPr>
        <p:spPr>
          <a:xfrm rot="-9507860">
            <a:off x="8901170" y="-4243552"/>
            <a:ext cx="10764274" cy="10544503"/>
          </a:xfrm>
          <a:custGeom>
            <a:avLst/>
            <a:gdLst/>
            <a:ahLst/>
            <a:cxnLst/>
            <a:rect l="l" t="t" r="r" b="b"/>
            <a:pathLst>
              <a:path w="10764274" h="10544503" extrusionOk="0">
                <a:moveTo>
                  <a:pt x="0" y="0"/>
                </a:moveTo>
                <a:lnTo>
                  <a:pt x="10764273" y="0"/>
                </a:lnTo>
                <a:lnTo>
                  <a:pt x="10764273" y="10544502"/>
                </a:lnTo>
                <a:lnTo>
                  <a:pt x="0" y="105445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-2667616" y="4380161"/>
            <a:ext cx="10031001" cy="8229600"/>
          </a:xfrm>
          <a:custGeom>
            <a:avLst/>
            <a:gdLst/>
            <a:ahLst/>
            <a:cxnLst/>
            <a:rect l="l" t="t" r="r" b="b"/>
            <a:pathLst>
              <a:path w="10031001" h="8229600" extrusionOk="0">
                <a:moveTo>
                  <a:pt x="0" y="0"/>
                </a:moveTo>
                <a:lnTo>
                  <a:pt x="10031000" y="0"/>
                </a:lnTo>
                <a:lnTo>
                  <a:pt x="1003100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 rot="4413099" flipH="1">
            <a:off x="10760248" y="1572496"/>
            <a:ext cx="11741660" cy="8761288"/>
          </a:xfrm>
          <a:custGeom>
            <a:avLst/>
            <a:gdLst/>
            <a:ahLst/>
            <a:cxnLst/>
            <a:rect l="l" t="t" r="r" b="b"/>
            <a:pathLst>
              <a:path w="11741660" h="8761288" extrusionOk="0">
                <a:moveTo>
                  <a:pt x="11741660" y="0"/>
                </a:moveTo>
                <a:lnTo>
                  <a:pt x="0" y="0"/>
                </a:lnTo>
                <a:lnTo>
                  <a:pt x="0" y="8761288"/>
                </a:lnTo>
                <a:lnTo>
                  <a:pt x="11741660" y="8761288"/>
                </a:lnTo>
                <a:lnTo>
                  <a:pt x="11741660" y="0"/>
                </a:lnTo>
                <a:close/>
              </a:path>
            </a:pathLst>
          </a:custGeom>
          <a:blipFill rotWithShape="1">
            <a:blip r:embed="rId5">
              <a:alphaModFix amt="72000"/>
            </a:blip>
            <a:stretch>
              <a:fillRect l="-17976" t="-20401" r="-364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 flipH="1">
            <a:off x="0" y="-400219"/>
            <a:ext cx="9326019" cy="7037809"/>
          </a:xfrm>
          <a:custGeom>
            <a:avLst/>
            <a:gdLst/>
            <a:ahLst/>
            <a:cxnLst/>
            <a:rect l="l" t="t" r="r" b="b"/>
            <a:pathLst>
              <a:path w="9326019" h="7037809" extrusionOk="0">
                <a:moveTo>
                  <a:pt x="9326019" y="0"/>
                </a:moveTo>
                <a:lnTo>
                  <a:pt x="0" y="0"/>
                </a:lnTo>
                <a:lnTo>
                  <a:pt x="0" y="7037809"/>
                </a:lnTo>
                <a:lnTo>
                  <a:pt x="9326019" y="7037809"/>
                </a:lnTo>
                <a:lnTo>
                  <a:pt x="9326019" y="0"/>
                </a:lnTo>
                <a:close/>
              </a:path>
            </a:pathLst>
          </a:custGeom>
          <a:blipFill rotWithShape="1">
            <a:blip r:embed="rId5">
              <a:alphaModFix amt="91000"/>
            </a:blip>
            <a:stretch>
              <a:fillRect t="-8723" r="-11075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781223" y="1033462"/>
            <a:ext cx="13881970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1" name="Google Shape;181;p6"/>
          <p:cNvSpPr/>
          <p:nvPr/>
        </p:nvSpPr>
        <p:spPr>
          <a:xfrm>
            <a:off x="16817117" y="619524"/>
            <a:ext cx="710926" cy="818353"/>
          </a:xfrm>
          <a:custGeom>
            <a:avLst/>
            <a:gdLst/>
            <a:ahLst/>
            <a:cxnLst/>
            <a:rect l="l" t="t" r="r" b="b"/>
            <a:pathLst>
              <a:path w="710926" h="818353" extrusionOk="0">
                <a:moveTo>
                  <a:pt x="0" y="0"/>
                </a:moveTo>
                <a:lnTo>
                  <a:pt x="710927" y="0"/>
                </a:lnTo>
                <a:lnTo>
                  <a:pt x="710927" y="818352"/>
                </a:lnTo>
                <a:lnTo>
                  <a:pt x="0" y="8183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720" r="-72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6"/>
          <p:cNvCxnSpPr/>
          <p:nvPr/>
        </p:nvCxnSpPr>
        <p:spPr>
          <a:xfrm>
            <a:off x="781222" y="9712128"/>
            <a:ext cx="16746822" cy="0"/>
          </a:xfrm>
          <a:prstGeom prst="straightConnector1">
            <a:avLst/>
          </a:prstGeom>
          <a:noFill/>
          <a:ln w="9525" cap="flat" cmpd="sng">
            <a:solidFill>
              <a:srgbClr val="ADADA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3" name="Google Shape;183;p6"/>
          <p:cNvSpPr txBox="1"/>
          <p:nvPr/>
        </p:nvSpPr>
        <p:spPr>
          <a:xfrm>
            <a:off x="14981708" y="863322"/>
            <a:ext cx="1715604" cy="29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43"/>
              <a:buFont typeface="Arial"/>
              <a:buNone/>
            </a:pPr>
            <a:r>
              <a:rPr lang="en-US" sz="1643" b="1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&lt;NetCoreConf/&gt;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14877799" y="1195787"/>
            <a:ext cx="1715604" cy="289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lang="en-US" sz="1343" b="0" i="0" u="none" strike="noStrike" cap="none">
                <a:solidFill>
                  <a:srgbClr val="D9D9D9"/>
                </a:solidFill>
                <a:latin typeface="Poppins"/>
                <a:ea typeface="Poppins"/>
                <a:cs typeface="Poppins"/>
                <a:sym typeface="Poppins"/>
              </a:rPr>
              <a:t>Madrid ‘26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882106" y="4570999"/>
            <a:ext cx="6111529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n-US" sz="9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7C2A1A-2A2C-6F6A-6BBD-908453AC68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94361" y="5143500"/>
            <a:ext cx="4433682" cy="44336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1195</Words>
  <Application>Microsoft Office PowerPoint</Application>
  <PresentationFormat>Custom</PresentationFormat>
  <Paragraphs>230</Paragraphs>
  <Slides>27</Slides>
  <Notes>26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Open Sans</vt:lpstr>
      <vt:lpstr>Play</vt:lpstr>
      <vt:lpstr>Arial</vt:lpstr>
      <vt:lpstr>Poppins</vt:lpstr>
      <vt:lpstr>Segoe UI Light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Sergio Parra Guerra</dc:creator>
  <cp:lastModifiedBy>Sergio Parra Guerra</cp:lastModifiedBy>
  <cp:revision>1</cp:revision>
  <dcterms:modified xsi:type="dcterms:W3CDTF">2026-10-26T08:31:21Z</dcterms:modified>
</cp:coreProperties>
</file>